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3" r:id="rId9"/>
  </p:sldIdLst>
  <p:sldSz cx="18288000" cy="10287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DM Sans" pitchFamily="2" charset="0"/>
      <p:regular r:id="rId14"/>
      <p:bold r:id="rId15"/>
      <p:italic r:id="rId16"/>
      <p:boldItalic r:id="rId17"/>
    </p:embeddedFont>
    <p:embeddedFont>
      <p:font typeface="DM Sans Bold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672" y="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12" Type="http://schemas.openxmlformats.org/officeDocument/2006/relationships/image" Target="../media/image18.svg"/><Relationship Id="rId2" Type="http://schemas.openxmlformats.org/officeDocument/2006/relationships/image" Target="../media/image10.jpeg"/><Relationship Id="rId16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17.png"/><Relationship Id="rId5" Type="http://schemas.openxmlformats.org/officeDocument/2006/relationships/image" Target="../media/image13.png"/><Relationship Id="rId15" Type="http://schemas.openxmlformats.org/officeDocument/2006/relationships/image" Target="../media/image21.png"/><Relationship Id="rId10" Type="http://schemas.openxmlformats.org/officeDocument/2006/relationships/image" Target="../media/image16.svg"/><Relationship Id="rId4" Type="http://schemas.openxmlformats.org/officeDocument/2006/relationships/image" Target="../media/image12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8.svg"/><Relationship Id="rId7" Type="http://schemas.openxmlformats.org/officeDocument/2006/relationships/image" Target="../media/image7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3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hyperlink" Target="mailto:manajemenasetdpm@gmail.com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hyperlink" Target="LEMBAR%20KERJA%20PENDATAAN%20ASET%20RSPH.xlsx" TargetMode="Externa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00784" y="-445005"/>
            <a:ext cx="5546693" cy="11382397"/>
            <a:chOff x="0" y="0"/>
            <a:chExt cx="1460857" cy="29978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0857" cy="2997833"/>
            </a:xfrm>
            <a:custGeom>
              <a:avLst/>
              <a:gdLst/>
              <a:ahLst/>
              <a:cxnLst/>
              <a:rect l="l" t="t" r="r" b="b"/>
              <a:pathLst>
                <a:path w="1460857" h="2997833">
                  <a:moveTo>
                    <a:pt x="0" y="0"/>
                  </a:moveTo>
                  <a:lnTo>
                    <a:pt x="1460857" y="0"/>
                  </a:lnTo>
                  <a:lnTo>
                    <a:pt x="1460857" y="2997833"/>
                  </a:lnTo>
                  <a:lnTo>
                    <a:pt x="0" y="2997833"/>
                  </a:lnTo>
                  <a:close/>
                </a:path>
              </a:pathLst>
            </a:custGeom>
            <a:solidFill>
              <a:srgbClr val="00878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0857" cy="3035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776404" y="-2783373"/>
            <a:ext cx="4827839" cy="6498796"/>
            <a:chOff x="0" y="0"/>
            <a:chExt cx="1271530" cy="17116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71530" cy="1711617"/>
            </a:xfrm>
            <a:custGeom>
              <a:avLst/>
              <a:gdLst/>
              <a:ahLst/>
              <a:cxnLst/>
              <a:rect l="l" t="t" r="r" b="b"/>
              <a:pathLst>
                <a:path w="1271530" h="1711617">
                  <a:moveTo>
                    <a:pt x="0" y="0"/>
                  </a:moveTo>
                  <a:lnTo>
                    <a:pt x="1271530" y="0"/>
                  </a:lnTo>
                  <a:lnTo>
                    <a:pt x="1271530" y="1711617"/>
                  </a:lnTo>
                  <a:lnTo>
                    <a:pt x="0" y="1711617"/>
                  </a:lnTo>
                  <a:close/>
                </a:path>
              </a:pathLst>
            </a:custGeom>
            <a:solidFill>
              <a:srgbClr val="FB824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71530" cy="1749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389481" y="754877"/>
            <a:ext cx="15370008" cy="9042997"/>
          </a:xfrm>
          <a:custGeom>
            <a:avLst/>
            <a:gdLst/>
            <a:ahLst/>
            <a:cxnLst/>
            <a:rect l="l" t="t" r="r" b="b"/>
            <a:pathLst>
              <a:path w="15370008" h="9042997">
                <a:moveTo>
                  <a:pt x="0" y="0"/>
                </a:moveTo>
                <a:lnTo>
                  <a:pt x="15370009" y="0"/>
                </a:lnTo>
                <a:lnTo>
                  <a:pt x="15370009" y="9042997"/>
                </a:lnTo>
                <a:lnTo>
                  <a:pt x="0" y="90429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671242" y="1028700"/>
            <a:ext cx="16230600" cy="8229600"/>
            <a:chOff x="0" y="0"/>
            <a:chExt cx="4274726" cy="21674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208889" y="3192157"/>
            <a:ext cx="10100109" cy="3414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430"/>
              </a:lnSpc>
            </a:pPr>
            <a:r>
              <a:rPr lang="en-US" sz="11099">
                <a:solidFill>
                  <a:srgbClr val="006B70"/>
                </a:solidFill>
                <a:latin typeface="League Spartan Bold"/>
              </a:rPr>
              <a:t>PENDATAAN ASET 2023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239537" y="6607060"/>
            <a:ext cx="10038813" cy="727862"/>
            <a:chOff x="0" y="0"/>
            <a:chExt cx="2643967" cy="1917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643967" cy="191700"/>
            </a:xfrm>
            <a:custGeom>
              <a:avLst/>
              <a:gdLst/>
              <a:ahLst/>
              <a:cxnLst/>
              <a:rect l="l" t="t" r="r" b="b"/>
              <a:pathLst>
                <a:path w="2643967" h="191700">
                  <a:moveTo>
                    <a:pt x="0" y="0"/>
                  </a:moveTo>
                  <a:lnTo>
                    <a:pt x="2643967" y="0"/>
                  </a:lnTo>
                  <a:lnTo>
                    <a:pt x="2643967" y="191700"/>
                  </a:lnTo>
                  <a:lnTo>
                    <a:pt x="0" y="191700"/>
                  </a:lnTo>
                  <a:close/>
                </a:path>
              </a:pathLst>
            </a:custGeom>
            <a:solidFill>
              <a:srgbClr val="F86717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643967" cy="229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7239537" y="1848122"/>
            <a:ext cx="3065822" cy="610610"/>
          </a:xfrm>
          <a:custGeom>
            <a:avLst/>
            <a:gdLst/>
            <a:ahLst/>
            <a:cxnLst/>
            <a:rect l="l" t="t" r="r" b="b"/>
            <a:pathLst>
              <a:path w="3065822" h="610610">
                <a:moveTo>
                  <a:pt x="0" y="0"/>
                </a:moveTo>
                <a:lnTo>
                  <a:pt x="3065822" y="0"/>
                </a:lnTo>
                <a:lnTo>
                  <a:pt x="3065822" y="610610"/>
                </a:lnTo>
                <a:lnTo>
                  <a:pt x="0" y="6106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5165521" y="8115994"/>
            <a:ext cx="1024802" cy="256200"/>
          </a:xfrm>
          <a:custGeom>
            <a:avLst/>
            <a:gdLst/>
            <a:ahLst/>
            <a:cxnLst/>
            <a:rect l="l" t="t" r="r" b="b"/>
            <a:pathLst>
              <a:path w="1024802" h="256200">
                <a:moveTo>
                  <a:pt x="0" y="0"/>
                </a:moveTo>
                <a:lnTo>
                  <a:pt x="1024802" y="0"/>
                </a:lnTo>
                <a:lnTo>
                  <a:pt x="1024802" y="256201"/>
                </a:lnTo>
                <a:lnTo>
                  <a:pt x="0" y="2562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5567875" y="1530979"/>
            <a:ext cx="1244897" cy="1244897"/>
          </a:xfrm>
          <a:custGeom>
            <a:avLst/>
            <a:gdLst/>
            <a:ahLst/>
            <a:cxnLst/>
            <a:rect l="l" t="t" r="r" b="b"/>
            <a:pathLst>
              <a:path w="1244897" h="1244897">
                <a:moveTo>
                  <a:pt x="0" y="0"/>
                </a:moveTo>
                <a:lnTo>
                  <a:pt x="1244896" y="0"/>
                </a:lnTo>
                <a:lnTo>
                  <a:pt x="1244896" y="1244897"/>
                </a:lnTo>
                <a:lnTo>
                  <a:pt x="0" y="12448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453017" y="6618683"/>
            <a:ext cx="9825333" cy="637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62"/>
              </a:lnSpc>
            </a:pPr>
            <a:r>
              <a:rPr lang="en-US" sz="3759">
                <a:solidFill>
                  <a:srgbClr val="FFFFFF"/>
                </a:solidFill>
                <a:latin typeface="DM Sans"/>
              </a:rPr>
              <a:t>PT DISA PRIMA MEDIKA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18777" y="1238789"/>
            <a:ext cx="2986582" cy="35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8"/>
              </a:lnSpc>
            </a:pPr>
            <a:endParaRPr lang="en-US" sz="2063" dirty="0">
              <a:solidFill>
                <a:srgbClr val="006B70"/>
              </a:solidFill>
              <a:latin typeface="DM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239537" y="8051221"/>
            <a:ext cx="4768450" cy="35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8"/>
              </a:lnSpc>
            </a:pPr>
            <a:endParaRPr lang="en-US" sz="2063" dirty="0">
              <a:solidFill>
                <a:srgbClr val="006B70"/>
              </a:solidFill>
              <a:latin typeface="DM Sans"/>
            </a:endParaRPr>
          </a:p>
        </p:txBody>
      </p:sp>
      <p:sp>
        <p:nvSpPr>
          <p:cNvPr id="16" name="Freeform 2">
            <a:extLst>
              <a:ext uri="{FF2B5EF4-FFF2-40B4-BE49-F238E27FC236}">
                <a16:creationId xmlns:a16="http://schemas.microsoft.com/office/drawing/2014/main" id="{E44C4938-2093-FA22-BA39-85C1AA72E443}"/>
              </a:ext>
            </a:extLst>
          </p:cNvPr>
          <p:cNvSpPr/>
          <p:nvPr/>
        </p:nvSpPr>
        <p:spPr>
          <a:xfrm>
            <a:off x="528511" y="2458733"/>
            <a:ext cx="6406732" cy="4917314"/>
          </a:xfrm>
          <a:custGeom>
            <a:avLst/>
            <a:gdLst/>
            <a:ahLst/>
            <a:cxnLst/>
            <a:rect l="l" t="t" r="r" b="b"/>
            <a:pathLst>
              <a:path w="12237323" h="8229600">
                <a:moveTo>
                  <a:pt x="0" y="0"/>
                </a:moveTo>
                <a:lnTo>
                  <a:pt x="12237324" y="0"/>
                </a:lnTo>
                <a:lnTo>
                  <a:pt x="1223732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7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09882" y="-138000"/>
            <a:ext cx="14086498" cy="10678113"/>
            <a:chOff x="0" y="0"/>
            <a:chExt cx="3710024" cy="28123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10024" cy="2812343"/>
            </a:xfrm>
            <a:custGeom>
              <a:avLst/>
              <a:gdLst/>
              <a:ahLst/>
              <a:cxnLst/>
              <a:rect l="l" t="t" r="r" b="b"/>
              <a:pathLst>
                <a:path w="3710024" h="2812343">
                  <a:moveTo>
                    <a:pt x="0" y="0"/>
                  </a:moveTo>
                  <a:lnTo>
                    <a:pt x="3710024" y="0"/>
                  </a:lnTo>
                  <a:lnTo>
                    <a:pt x="3710024" y="2812343"/>
                  </a:lnTo>
                  <a:lnTo>
                    <a:pt x="0" y="281234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710024" cy="2850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729696" y="-921321"/>
            <a:ext cx="4333368" cy="11991224"/>
            <a:chOff x="0" y="0"/>
            <a:chExt cx="1141299" cy="31581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41299" cy="3158183"/>
            </a:xfrm>
            <a:custGeom>
              <a:avLst/>
              <a:gdLst/>
              <a:ahLst/>
              <a:cxnLst/>
              <a:rect l="l" t="t" r="r" b="b"/>
              <a:pathLst>
                <a:path w="1141299" h="3158183">
                  <a:moveTo>
                    <a:pt x="0" y="0"/>
                  </a:moveTo>
                  <a:lnTo>
                    <a:pt x="1141299" y="0"/>
                  </a:lnTo>
                  <a:lnTo>
                    <a:pt x="1141299" y="3158183"/>
                  </a:lnTo>
                  <a:lnTo>
                    <a:pt x="0" y="3158183"/>
                  </a:lnTo>
                  <a:close/>
                </a:path>
              </a:pathLst>
            </a:custGeom>
            <a:solidFill>
              <a:srgbClr val="FB824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41299" cy="3196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296343" y="688927"/>
            <a:ext cx="962957" cy="962957"/>
          </a:xfrm>
          <a:custGeom>
            <a:avLst/>
            <a:gdLst/>
            <a:ahLst/>
            <a:cxnLst/>
            <a:rect l="l" t="t" r="r" b="b"/>
            <a:pathLst>
              <a:path w="962957" h="962957">
                <a:moveTo>
                  <a:pt x="0" y="0"/>
                </a:moveTo>
                <a:lnTo>
                  <a:pt x="962957" y="0"/>
                </a:lnTo>
                <a:lnTo>
                  <a:pt x="962957" y="962957"/>
                </a:lnTo>
                <a:lnTo>
                  <a:pt x="0" y="962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044263" y="-29073"/>
            <a:ext cx="8177055" cy="1031607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6903298" y="105482"/>
            <a:ext cx="7764199" cy="10678113"/>
          </a:xfrm>
          <a:custGeom>
            <a:avLst/>
            <a:gdLst/>
            <a:ahLst/>
            <a:cxnLst/>
            <a:rect l="l" t="t" r="r" b="b"/>
            <a:pathLst>
              <a:path w="6051239" h="8594052">
                <a:moveTo>
                  <a:pt x="0" y="0"/>
                </a:moveTo>
                <a:lnTo>
                  <a:pt x="6051239" y="0"/>
                </a:lnTo>
                <a:lnTo>
                  <a:pt x="6051239" y="8594052"/>
                </a:lnTo>
                <a:lnTo>
                  <a:pt x="0" y="8594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177"/>
            </a:stretch>
          </a:blipFill>
        </p:spPr>
        <p:txBody>
          <a:bodyPr/>
          <a:lstStyle/>
          <a:p>
            <a:r>
              <a:rPr lang="en-US" dirty="0"/>
              <a:t> </a:t>
            </a:r>
            <a:endParaRPr lang="en-ID" dirty="0"/>
          </a:p>
        </p:txBody>
      </p:sp>
      <p:sp>
        <p:nvSpPr>
          <p:cNvPr id="15" name="TextBox 15"/>
          <p:cNvSpPr txBox="1"/>
          <p:nvPr/>
        </p:nvSpPr>
        <p:spPr>
          <a:xfrm>
            <a:off x="128259" y="132696"/>
            <a:ext cx="6386721" cy="18646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420"/>
              </a:lnSpc>
            </a:pPr>
            <a:r>
              <a:rPr lang="en-US" sz="5300" dirty="0">
                <a:solidFill>
                  <a:schemeClr val="bg1"/>
                </a:solidFill>
                <a:latin typeface="League Spartan Bold"/>
              </a:rPr>
              <a:t>SK PENDATAAN ASET 2023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D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831863"/>
            <a:ext cx="18288000" cy="5455137"/>
            <a:chOff x="0" y="0"/>
            <a:chExt cx="24384000" cy="727351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8000"/>
            </a:blip>
            <a:srcRect t="27614" b="27614"/>
            <a:stretch>
              <a:fillRect/>
            </a:stretch>
          </p:blipFill>
          <p:spPr>
            <a:xfrm>
              <a:off x="0" y="0"/>
              <a:ext cx="24384000" cy="7273517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0"/>
            <a:ext cx="18288000" cy="4831863"/>
            <a:chOff x="0" y="0"/>
            <a:chExt cx="4816593" cy="12725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272589"/>
            </a:xfrm>
            <a:custGeom>
              <a:avLst/>
              <a:gdLst/>
              <a:ahLst/>
              <a:cxnLst/>
              <a:rect l="l" t="t" r="r" b="b"/>
              <a:pathLst>
                <a:path w="4816592" h="1272589">
                  <a:moveTo>
                    <a:pt x="0" y="0"/>
                  </a:moveTo>
                  <a:lnTo>
                    <a:pt x="4816592" y="0"/>
                  </a:lnTo>
                  <a:lnTo>
                    <a:pt x="4816592" y="1272589"/>
                  </a:lnTo>
                  <a:lnTo>
                    <a:pt x="0" y="127258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13106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3248716"/>
            <a:ext cx="16230600" cy="6009584"/>
            <a:chOff x="0" y="0"/>
            <a:chExt cx="5497895" cy="18158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97895" cy="1815849"/>
            </a:xfrm>
            <a:custGeom>
              <a:avLst/>
              <a:gdLst/>
              <a:ahLst/>
              <a:cxnLst/>
              <a:rect l="l" t="t" r="r" b="b"/>
              <a:pathLst>
                <a:path w="5497895" h="1815849">
                  <a:moveTo>
                    <a:pt x="0" y="0"/>
                  </a:moveTo>
                  <a:lnTo>
                    <a:pt x="5497895" y="0"/>
                  </a:lnTo>
                  <a:lnTo>
                    <a:pt x="5497895" y="1815849"/>
                  </a:lnTo>
                  <a:lnTo>
                    <a:pt x="0" y="1815849"/>
                  </a:lnTo>
                  <a:close/>
                </a:path>
              </a:pathLst>
            </a:custGeom>
            <a:solidFill>
              <a:srgbClr val="00878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497895" cy="1853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28700" y="9028197"/>
            <a:ext cx="3718844" cy="460207"/>
          </a:xfrm>
          <a:custGeom>
            <a:avLst/>
            <a:gdLst/>
            <a:ahLst/>
            <a:cxnLst/>
            <a:rect l="l" t="t" r="r" b="b"/>
            <a:pathLst>
              <a:path w="3718844" h="460207">
                <a:moveTo>
                  <a:pt x="0" y="0"/>
                </a:moveTo>
                <a:lnTo>
                  <a:pt x="3718844" y="0"/>
                </a:lnTo>
                <a:lnTo>
                  <a:pt x="3718844" y="460206"/>
                </a:lnTo>
                <a:lnTo>
                  <a:pt x="0" y="4602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540456" y="9019942"/>
            <a:ext cx="3718844" cy="460207"/>
          </a:xfrm>
          <a:custGeom>
            <a:avLst/>
            <a:gdLst/>
            <a:ahLst/>
            <a:cxnLst/>
            <a:rect l="l" t="t" r="r" b="b"/>
            <a:pathLst>
              <a:path w="3718844" h="460207">
                <a:moveTo>
                  <a:pt x="0" y="0"/>
                </a:moveTo>
                <a:lnTo>
                  <a:pt x="3718844" y="0"/>
                </a:lnTo>
                <a:lnTo>
                  <a:pt x="3718844" y="460206"/>
                </a:lnTo>
                <a:lnTo>
                  <a:pt x="0" y="4602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08346" y="802038"/>
            <a:ext cx="3718844" cy="460207"/>
          </a:xfrm>
          <a:custGeom>
            <a:avLst/>
            <a:gdLst/>
            <a:ahLst/>
            <a:cxnLst/>
            <a:rect l="l" t="t" r="r" b="b"/>
            <a:pathLst>
              <a:path w="3718844" h="460207">
                <a:moveTo>
                  <a:pt x="0" y="0"/>
                </a:moveTo>
                <a:lnTo>
                  <a:pt x="3718844" y="0"/>
                </a:lnTo>
                <a:lnTo>
                  <a:pt x="3718844" y="460207"/>
                </a:lnTo>
                <a:lnTo>
                  <a:pt x="0" y="4602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296343" y="688927"/>
            <a:ext cx="962957" cy="962957"/>
          </a:xfrm>
          <a:custGeom>
            <a:avLst/>
            <a:gdLst/>
            <a:ahLst/>
            <a:cxnLst/>
            <a:rect l="l" t="t" r="r" b="b"/>
            <a:pathLst>
              <a:path w="962957" h="962957">
                <a:moveTo>
                  <a:pt x="0" y="0"/>
                </a:moveTo>
                <a:lnTo>
                  <a:pt x="962957" y="0"/>
                </a:lnTo>
                <a:lnTo>
                  <a:pt x="962957" y="962957"/>
                </a:lnTo>
                <a:lnTo>
                  <a:pt x="0" y="9629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2642734" y="3724966"/>
            <a:ext cx="2088824" cy="2088824"/>
          </a:xfrm>
          <a:custGeom>
            <a:avLst/>
            <a:gdLst/>
            <a:ahLst/>
            <a:cxnLst/>
            <a:rect l="l" t="t" r="r" b="b"/>
            <a:pathLst>
              <a:path w="2088824" h="2088824">
                <a:moveTo>
                  <a:pt x="0" y="0"/>
                </a:moveTo>
                <a:lnTo>
                  <a:pt x="2088824" y="0"/>
                </a:lnTo>
                <a:lnTo>
                  <a:pt x="2088824" y="2088824"/>
                </a:lnTo>
                <a:lnTo>
                  <a:pt x="0" y="20888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099588" y="3637880"/>
            <a:ext cx="2088824" cy="2088824"/>
          </a:xfrm>
          <a:custGeom>
            <a:avLst/>
            <a:gdLst/>
            <a:ahLst/>
            <a:cxnLst/>
            <a:rect l="l" t="t" r="r" b="b"/>
            <a:pathLst>
              <a:path w="2088824" h="2088824">
                <a:moveTo>
                  <a:pt x="0" y="0"/>
                </a:moveTo>
                <a:lnTo>
                  <a:pt x="2088824" y="0"/>
                </a:lnTo>
                <a:lnTo>
                  <a:pt x="2088824" y="2088825"/>
                </a:lnTo>
                <a:lnTo>
                  <a:pt x="0" y="20888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2997017" y="4115589"/>
            <a:ext cx="1380258" cy="897167"/>
          </a:xfrm>
          <a:custGeom>
            <a:avLst/>
            <a:gdLst/>
            <a:ahLst/>
            <a:cxnLst/>
            <a:rect l="l" t="t" r="r" b="b"/>
            <a:pathLst>
              <a:path w="1380258" h="897167">
                <a:moveTo>
                  <a:pt x="0" y="0"/>
                </a:moveTo>
                <a:lnTo>
                  <a:pt x="1380258" y="0"/>
                </a:lnTo>
                <a:lnTo>
                  <a:pt x="1380258" y="897167"/>
                </a:lnTo>
                <a:lnTo>
                  <a:pt x="0" y="8971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3677379" y="3724966"/>
            <a:ext cx="2088824" cy="2088824"/>
          </a:xfrm>
          <a:custGeom>
            <a:avLst/>
            <a:gdLst/>
            <a:ahLst/>
            <a:cxnLst/>
            <a:rect l="l" t="t" r="r" b="b"/>
            <a:pathLst>
              <a:path w="2088824" h="2088824">
                <a:moveTo>
                  <a:pt x="0" y="0"/>
                </a:moveTo>
                <a:lnTo>
                  <a:pt x="2088825" y="0"/>
                </a:lnTo>
                <a:lnTo>
                  <a:pt x="2088825" y="2088824"/>
                </a:lnTo>
                <a:lnTo>
                  <a:pt x="0" y="20888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094115" y="4065600"/>
            <a:ext cx="1255353" cy="1233384"/>
          </a:xfrm>
          <a:custGeom>
            <a:avLst/>
            <a:gdLst/>
            <a:ahLst/>
            <a:cxnLst/>
            <a:rect l="l" t="t" r="r" b="b"/>
            <a:pathLst>
              <a:path w="1255353" h="1233384">
                <a:moveTo>
                  <a:pt x="0" y="0"/>
                </a:moveTo>
                <a:lnTo>
                  <a:pt x="1255353" y="0"/>
                </a:lnTo>
                <a:lnTo>
                  <a:pt x="1255353" y="1233385"/>
                </a:lnTo>
                <a:lnTo>
                  <a:pt x="0" y="123338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589753" y="3983261"/>
            <a:ext cx="1108494" cy="1055841"/>
          </a:xfrm>
          <a:custGeom>
            <a:avLst/>
            <a:gdLst/>
            <a:ahLst/>
            <a:cxnLst/>
            <a:rect l="l" t="t" r="r" b="b"/>
            <a:pathLst>
              <a:path w="1108494" h="1055841">
                <a:moveTo>
                  <a:pt x="0" y="0"/>
                </a:moveTo>
                <a:lnTo>
                  <a:pt x="1108494" y="0"/>
                </a:lnTo>
                <a:lnTo>
                  <a:pt x="1108494" y="1055841"/>
                </a:lnTo>
                <a:lnTo>
                  <a:pt x="0" y="105584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08346" y="1734241"/>
            <a:ext cx="9786464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00"/>
              </a:lnSpc>
            </a:pPr>
            <a:r>
              <a:rPr lang="en-US" sz="7500" dirty="0">
                <a:solidFill>
                  <a:srgbClr val="006B70"/>
                </a:solidFill>
                <a:latin typeface="League Spartan Bold"/>
              </a:rPr>
              <a:t>TIMELINE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5269" y="848792"/>
            <a:ext cx="3449621" cy="331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</a:pPr>
            <a:r>
              <a:rPr lang="en-US" sz="1963" dirty="0">
                <a:solidFill>
                  <a:srgbClr val="006B70"/>
                </a:solidFill>
                <a:latin typeface="DM Sans"/>
              </a:rPr>
              <a:t>PENDATAAN ASET 2023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78577" y="5709968"/>
            <a:ext cx="3417139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DM Sans"/>
              </a:rPr>
              <a:t>TAHAP PRA OPNAME ASET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59094" y="6593480"/>
            <a:ext cx="3569902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>
              <a:lnSpc>
                <a:spcPts val="3000"/>
              </a:lnSpc>
              <a:buFont typeface="Arial"/>
              <a:buChar char="•"/>
            </a:pPr>
            <a:r>
              <a:rPr lang="en-US" sz="2000" dirty="0" err="1">
                <a:solidFill>
                  <a:srgbClr val="FFFFFF"/>
                </a:solidFill>
                <a:latin typeface="DM Sans"/>
              </a:rPr>
              <a:t>Pengisian</a:t>
            </a:r>
            <a:r>
              <a:rPr lang="en-US" sz="2000" dirty="0">
                <a:solidFill>
                  <a:srgbClr val="FFFFFF"/>
                </a:solidFill>
                <a:latin typeface="DM Sa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DM Sans"/>
              </a:rPr>
              <a:t>kertas</a:t>
            </a:r>
            <a:r>
              <a:rPr lang="en-US" sz="2000" dirty="0">
                <a:solidFill>
                  <a:srgbClr val="FFFFFF"/>
                </a:solidFill>
                <a:latin typeface="DM Sa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DM Sans"/>
              </a:rPr>
              <a:t>kerja</a:t>
            </a:r>
            <a:r>
              <a:rPr lang="en-US" sz="2000" dirty="0">
                <a:solidFill>
                  <a:srgbClr val="FFFFFF"/>
                </a:solidFill>
                <a:latin typeface="DM Sans"/>
              </a:rPr>
              <a:t> </a:t>
            </a:r>
          </a:p>
          <a:p>
            <a:pPr marL="431801" lvl="1" indent="-215900">
              <a:lnSpc>
                <a:spcPts val="3000"/>
              </a:lnSpc>
              <a:buFont typeface="Arial"/>
              <a:buChar char="•"/>
            </a:pPr>
            <a:r>
              <a:rPr lang="en-US" sz="2000" dirty="0" err="1">
                <a:solidFill>
                  <a:srgbClr val="FFFFFF"/>
                </a:solidFill>
                <a:latin typeface="DM Sans"/>
              </a:rPr>
              <a:t>Verifikasi</a:t>
            </a:r>
            <a:r>
              <a:rPr lang="en-US" sz="2000" dirty="0">
                <a:solidFill>
                  <a:srgbClr val="FFFFFF"/>
                </a:solidFill>
                <a:latin typeface="DM Sans"/>
              </a:rPr>
              <a:t> data </a:t>
            </a:r>
            <a:r>
              <a:rPr lang="en-US" sz="2000" dirty="0" err="1">
                <a:solidFill>
                  <a:srgbClr val="FFFFFF"/>
                </a:solidFill>
                <a:latin typeface="DM Sans"/>
              </a:rPr>
              <a:t>aset</a:t>
            </a:r>
            <a:endParaRPr lang="en-US" sz="2000" dirty="0">
              <a:solidFill>
                <a:srgbClr val="FFFFFF"/>
              </a:solidFill>
              <a:latin typeface="DM Sans"/>
            </a:endParaRPr>
          </a:p>
          <a:p>
            <a:pPr>
              <a:lnSpc>
                <a:spcPts val="3000"/>
              </a:lnSpc>
            </a:pPr>
            <a:endParaRPr lang="en-US" sz="2000" dirty="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3407198" y="6593480"/>
            <a:ext cx="2629186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>
              <a:lnSpc>
                <a:spcPts val="3000"/>
              </a:lnSpc>
              <a:buFont typeface="Arial"/>
              <a:buChar char="•"/>
            </a:pPr>
            <a:r>
              <a:rPr lang="en-US" sz="2000" dirty="0" err="1">
                <a:solidFill>
                  <a:srgbClr val="FFFFFF"/>
                </a:solidFill>
                <a:latin typeface="DM Sans"/>
              </a:rPr>
              <a:t>Pengolahan</a:t>
            </a:r>
            <a:r>
              <a:rPr lang="en-US" sz="2000" dirty="0">
                <a:solidFill>
                  <a:srgbClr val="FFFFFF"/>
                </a:solidFill>
                <a:latin typeface="DM Sans"/>
              </a:rPr>
              <a:t> data</a:t>
            </a:r>
          </a:p>
          <a:p>
            <a:pPr marL="431801" lvl="1" indent="-215900">
              <a:lnSpc>
                <a:spcPts val="3000"/>
              </a:lnSpc>
              <a:buFont typeface="Arial"/>
              <a:buChar char="•"/>
            </a:pPr>
            <a:r>
              <a:rPr lang="en-US" sz="2000" dirty="0" err="1">
                <a:solidFill>
                  <a:srgbClr val="FFFFFF"/>
                </a:solidFill>
                <a:latin typeface="DM Sans"/>
              </a:rPr>
              <a:t>Rapat</a:t>
            </a:r>
            <a:r>
              <a:rPr lang="en-US" sz="2000" dirty="0">
                <a:solidFill>
                  <a:srgbClr val="FFFFFF"/>
                </a:solidFill>
                <a:latin typeface="DM Sa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DM Sans"/>
              </a:rPr>
              <a:t>hasil</a:t>
            </a:r>
            <a:endParaRPr lang="en-US" sz="2000" dirty="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794810" y="1924840"/>
            <a:ext cx="6464490" cy="1057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>
                <a:solidFill>
                  <a:srgbClr val="00878D"/>
                </a:solidFill>
                <a:latin typeface="DM Sans"/>
              </a:rPr>
              <a:t>Making a difference today for a better tomorrow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62027" y="6117229"/>
            <a:ext cx="308333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DM Sans"/>
              </a:rPr>
              <a:t>07-19 Des 2023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76400" y="6555380"/>
            <a:ext cx="5029199" cy="2670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1" lvl="1" indent="-215900">
              <a:lnSpc>
                <a:spcPts val="3000"/>
              </a:lnSpc>
              <a:buFont typeface="Arial"/>
              <a:buChar char="•"/>
            </a:pPr>
            <a:r>
              <a:rPr lang="en-US" sz="2000" dirty="0" err="1">
                <a:solidFill>
                  <a:srgbClr val="FFFFFF"/>
                </a:solidFill>
                <a:latin typeface="DM Sans"/>
              </a:rPr>
              <a:t>Pembentukan</a:t>
            </a:r>
            <a:r>
              <a:rPr lang="en-US" sz="2000" dirty="0">
                <a:solidFill>
                  <a:srgbClr val="FFFFFF"/>
                </a:solidFill>
                <a:latin typeface="DM Sans"/>
              </a:rPr>
              <a:t> SK Tim dan </a:t>
            </a:r>
            <a:r>
              <a:rPr lang="en-US" sz="2000" dirty="0" err="1">
                <a:solidFill>
                  <a:srgbClr val="FFFFFF"/>
                </a:solidFill>
                <a:latin typeface="DM Sans"/>
              </a:rPr>
              <a:t>Pendataan</a:t>
            </a:r>
            <a:r>
              <a:rPr lang="en-US" sz="2000" dirty="0">
                <a:solidFill>
                  <a:srgbClr val="FFFFFF"/>
                </a:solidFill>
                <a:latin typeface="DM Sa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DM Sans"/>
              </a:rPr>
              <a:t>aset</a:t>
            </a:r>
            <a:endParaRPr lang="en-US" sz="2000" dirty="0">
              <a:solidFill>
                <a:srgbClr val="FFFFFF"/>
              </a:solidFill>
              <a:latin typeface="DM Sans"/>
            </a:endParaRPr>
          </a:p>
          <a:p>
            <a:pPr marL="431801" lvl="1" indent="-215900">
              <a:lnSpc>
                <a:spcPts val="3000"/>
              </a:lnSpc>
              <a:buFont typeface="Arial"/>
              <a:buChar char="•"/>
            </a:pPr>
            <a:r>
              <a:rPr lang="en-US" sz="2000" dirty="0" err="1">
                <a:solidFill>
                  <a:srgbClr val="FFFFFF"/>
                </a:solidFill>
                <a:latin typeface="DM Sans"/>
              </a:rPr>
              <a:t>Pembuatan</a:t>
            </a:r>
            <a:r>
              <a:rPr lang="en-US" sz="2000" dirty="0">
                <a:solidFill>
                  <a:srgbClr val="FFFFFF"/>
                </a:solidFill>
                <a:latin typeface="DM Sa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DM Sans"/>
              </a:rPr>
              <a:t>alur</a:t>
            </a:r>
            <a:r>
              <a:rPr lang="en-US" sz="2000" dirty="0">
                <a:solidFill>
                  <a:srgbClr val="FFFFFF"/>
                </a:solidFill>
                <a:latin typeface="DM Sans"/>
              </a:rPr>
              <a:t> dan </a:t>
            </a:r>
            <a:r>
              <a:rPr lang="en-US" sz="2000" dirty="0" err="1">
                <a:solidFill>
                  <a:srgbClr val="FFFFFF"/>
                </a:solidFill>
                <a:latin typeface="DM Sans"/>
              </a:rPr>
              <a:t>kertas</a:t>
            </a:r>
            <a:r>
              <a:rPr lang="en-US" sz="2000" dirty="0">
                <a:solidFill>
                  <a:srgbClr val="FFFFFF"/>
                </a:solidFill>
                <a:latin typeface="DM Sa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DM Sans"/>
              </a:rPr>
              <a:t>kerja</a:t>
            </a:r>
            <a:r>
              <a:rPr lang="en-US" sz="2000" dirty="0">
                <a:solidFill>
                  <a:srgbClr val="FFFFFF"/>
                </a:solidFill>
                <a:latin typeface="DM Sans"/>
              </a:rPr>
              <a:t> </a:t>
            </a:r>
          </a:p>
          <a:p>
            <a:pPr marL="431801" lvl="1" indent="-215900">
              <a:lnSpc>
                <a:spcPts val="3000"/>
              </a:lnSpc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DM Sans"/>
              </a:rPr>
              <a:t>Zoom meeting </a:t>
            </a:r>
            <a:r>
              <a:rPr lang="en-US" sz="2000" dirty="0" err="1">
                <a:solidFill>
                  <a:srgbClr val="FFFFFF"/>
                </a:solidFill>
                <a:latin typeface="DM Sans"/>
              </a:rPr>
              <a:t>persiapan</a:t>
            </a:r>
            <a:r>
              <a:rPr lang="en-US" sz="2000" dirty="0">
                <a:solidFill>
                  <a:srgbClr val="FFFFFF"/>
                </a:solidFill>
                <a:latin typeface="DM Sa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DM Sans"/>
              </a:rPr>
              <a:t>pendataan</a:t>
            </a:r>
            <a:r>
              <a:rPr lang="en-US" sz="2000" dirty="0">
                <a:solidFill>
                  <a:srgbClr val="FFFFFF"/>
                </a:solidFill>
                <a:latin typeface="DM Sa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DM Sans"/>
              </a:rPr>
              <a:t>aset</a:t>
            </a:r>
            <a:endParaRPr lang="en-US" sz="2000" dirty="0">
              <a:solidFill>
                <a:srgbClr val="FFFFFF"/>
              </a:solidFill>
              <a:latin typeface="DM Sans"/>
            </a:endParaRPr>
          </a:p>
          <a:p>
            <a:pPr marL="431801" lvl="1" indent="-215900">
              <a:lnSpc>
                <a:spcPts val="3000"/>
              </a:lnSpc>
              <a:buFont typeface="Arial"/>
              <a:buChar char="•"/>
            </a:pPr>
            <a:r>
              <a:rPr lang="en-US" sz="2000" dirty="0" err="1">
                <a:solidFill>
                  <a:srgbClr val="FFFFFF"/>
                </a:solidFill>
                <a:latin typeface="DM Sans"/>
              </a:rPr>
              <a:t>Pembagian</a:t>
            </a:r>
            <a:r>
              <a:rPr lang="en-US" sz="2000" dirty="0">
                <a:solidFill>
                  <a:srgbClr val="FFFFFF"/>
                </a:solidFill>
                <a:latin typeface="DM Sa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DM Sans"/>
              </a:rPr>
              <a:t>penanggung</a:t>
            </a:r>
            <a:r>
              <a:rPr lang="en-US" sz="2000" dirty="0">
                <a:solidFill>
                  <a:srgbClr val="FFFFFF"/>
                </a:solidFill>
                <a:latin typeface="DM Sa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DM Sans"/>
              </a:rPr>
              <a:t>jawab</a:t>
            </a:r>
            <a:r>
              <a:rPr lang="en-US" sz="2000" dirty="0">
                <a:solidFill>
                  <a:srgbClr val="FFFFFF"/>
                </a:solidFill>
                <a:latin typeface="DM Sans"/>
              </a:rPr>
              <a:t> per </a:t>
            </a:r>
            <a:r>
              <a:rPr lang="en-US" sz="2000" dirty="0" err="1">
                <a:solidFill>
                  <a:srgbClr val="FFFFFF"/>
                </a:solidFill>
                <a:latin typeface="DM Sans"/>
              </a:rPr>
              <a:t>ruang</a:t>
            </a:r>
            <a:endParaRPr lang="en-US" sz="2000" dirty="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278055" y="5752867"/>
            <a:ext cx="3750941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DM Sans"/>
              </a:rPr>
              <a:t>PELAKSANAAN OPNAME ASET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602332" y="6117229"/>
            <a:ext cx="308333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DM Sans"/>
              </a:rPr>
              <a:t>20-27 Des 2023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876845" y="5752867"/>
            <a:ext cx="3750941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DM Sans"/>
              </a:rPr>
              <a:t>REPORTING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057953" y="6117229"/>
            <a:ext cx="5277547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DM Sans"/>
              </a:rPr>
              <a:t>28 Des 2023 - 05 Jan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D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5760D4-E20D-6708-926E-AB16454AEA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8" b="5454"/>
          <a:stretch/>
        </p:blipFill>
        <p:spPr>
          <a:xfrm>
            <a:off x="1752600" y="1562100"/>
            <a:ext cx="13981993" cy="8458200"/>
          </a:xfrm>
          <a:prstGeom prst="rect">
            <a:avLst/>
          </a:prstGeom>
        </p:spPr>
      </p:pic>
      <p:grpSp>
        <p:nvGrpSpPr>
          <p:cNvPr id="4" name="Group 7">
            <a:extLst>
              <a:ext uri="{FF2B5EF4-FFF2-40B4-BE49-F238E27FC236}">
                <a16:creationId xmlns:a16="http://schemas.microsoft.com/office/drawing/2014/main" id="{2636F306-6676-2A0D-522F-3A0909B504B1}"/>
              </a:ext>
            </a:extLst>
          </p:cNvPr>
          <p:cNvGrpSpPr/>
          <p:nvPr/>
        </p:nvGrpSpPr>
        <p:grpSpPr>
          <a:xfrm>
            <a:off x="17145000" y="-852112"/>
            <a:ext cx="4333368" cy="11991224"/>
            <a:chOff x="0" y="0"/>
            <a:chExt cx="1141299" cy="3158183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01F1F43A-4555-79E9-7659-E02FD1503AE3}"/>
                </a:ext>
              </a:extLst>
            </p:cNvPr>
            <p:cNvSpPr/>
            <p:nvPr/>
          </p:nvSpPr>
          <p:spPr>
            <a:xfrm>
              <a:off x="0" y="0"/>
              <a:ext cx="1141299" cy="3158183"/>
            </a:xfrm>
            <a:custGeom>
              <a:avLst/>
              <a:gdLst/>
              <a:ahLst/>
              <a:cxnLst/>
              <a:rect l="l" t="t" r="r" b="b"/>
              <a:pathLst>
                <a:path w="1141299" h="3158183">
                  <a:moveTo>
                    <a:pt x="0" y="0"/>
                  </a:moveTo>
                  <a:lnTo>
                    <a:pt x="1141299" y="0"/>
                  </a:lnTo>
                  <a:lnTo>
                    <a:pt x="1141299" y="3158183"/>
                  </a:lnTo>
                  <a:lnTo>
                    <a:pt x="0" y="3158183"/>
                  </a:lnTo>
                  <a:close/>
                </a:path>
              </a:pathLst>
            </a:custGeom>
            <a:solidFill>
              <a:srgbClr val="FB8240"/>
            </a:solidFill>
          </p:spPr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7EEAB1B0-3236-A794-D05F-F43478FE1C76}"/>
                </a:ext>
              </a:extLst>
            </p:cNvPr>
            <p:cNvSpPr txBox="1"/>
            <p:nvPr/>
          </p:nvSpPr>
          <p:spPr>
            <a:xfrm>
              <a:off x="0" y="-38100"/>
              <a:ext cx="1141299" cy="3196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20">
            <a:extLst>
              <a:ext uri="{FF2B5EF4-FFF2-40B4-BE49-F238E27FC236}">
                <a16:creationId xmlns:a16="http://schemas.microsoft.com/office/drawing/2014/main" id="{FDD388BA-F236-D138-1A28-856495E3A799}"/>
              </a:ext>
            </a:extLst>
          </p:cNvPr>
          <p:cNvSpPr txBox="1"/>
          <p:nvPr/>
        </p:nvSpPr>
        <p:spPr>
          <a:xfrm>
            <a:off x="685800" y="276225"/>
            <a:ext cx="8077200" cy="1263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500"/>
              </a:lnSpc>
            </a:pPr>
            <a:r>
              <a:rPr lang="en-US" sz="6600" dirty="0">
                <a:solidFill>
                  <a:schemeClr val="bg1"/>
                </a:solidFill>
                <a:latin typeface="League Spartan Bold"/>
              </a:rPr>
              <a:t>DENAH PHM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D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2636F306-6676-2A0D-522F-3A0909B504B1}"/>
              </a:ext>
            </a:extLst>
          </p:cNvPr>
          <p:cNvGrpSpPr/>
          <p:nvPr/>
        </p:nvGrpSpPr>
        <p:grpSpPr>
          <a:xfrm>
            <a:off x="17145000" y="-852112"/>
            <a:ext cx="4333368" cy="11991224"/>
            <a:chOff x="0" y="0"/>
            <a:chExt cx="1141299" cy="3158183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01F1F43A-4555-79E9-7659-E02FD1503AE3}"/>
                </a:ext>
              </a:extLst>
            </p:cNvPr>
            <p:cNvSpPr/>
            <p:nvPr/>
          </p:nvSpPr>
          <p:spPr>
            <a:xfrm>
              <a:off x="0" y="0"/>
              <a:ext cx="1141299" cy="3158183"/>
            </a:xfrm>
            <a:custGeom>
              <a:avLst/>
              <a:gdLst/>
              <a:ahLst/>
              <a:cxnLst/>
              <a:rect l="l" t="t" r="r" b="b"/>
              <a:pathLst>
                <a:path w="1141299" h="3158183">
                  <a:moveTo>
                    <a:pt x="0" y="0"/>
                  </a:moveTo>
                  <a:lnTo>
                    <a:pt x="1141299" y="0"/>
                  </a:lnTo>
                  <a:lnTo>
                    <a:pt x="1141299" y="3158183"/>
                  </a:lnTo>
                  <a:lnTo>
                    <a:pt x="0" y="3158183"/>
                  </a:lnTo>
                  <a:close/>
                </a:path>
              </a:pathLst>
            </a:custGeom>
            <a:solidFill>
              <a:srgbClr val="FB8240"/>
            </a:solidFill>
          </p:spPr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7EEAB1B0-3236-A794-D05F-F43478FE1C76}"/>
                </a:ext>
              </a:extLst>
            </p:cNvPr>
            <p:cNvSpPr txBox="1"/>
            <p:nvPr/>
          </p:nvSpPr>
          <p:spPr>
            <a:xfrm>
              <a:off x="0" y="-38100"/>
              <a:ext cx="1141299" cy="3196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20">
            <a:extLst>
              <a:ext uri="{FF2B5EF4-FFF2-40B4-BE49-F238E27FC236}">
                <a16:creationId xmlns:a16="http://schemas.microsoft.com/office/drawing/2014/main" id="{FDD388BA-F236-D138-1A28-856495E3A799}"/>
              </a:ext>
            </a:extLst>
          </p:cNvPr>
          <p:cNvSpPr txBox="1"/>
          <p:nvPr/>
        </p:nvSpPr>
        <p:spPr>
          <a:xfrm>
            <a:off x="685800" y="276225"/>
            <a:ext cx="8077200" cy="1263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500"/>
              </a:lnSpc>
            </a:pPr>
            <a:r>
              <a:rPr lang="en-US" sz="6600" dirty="0">
                <a:solidFill>
                  <a:schemeClr val="bg1"/>
                </a:solidFill>
                <a:latin typeface="League Spartan Bold"/>
              </a:rPr>
              <a:t>DENAH PHS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5B59D6-51D8-E81D-5D48-D2CA7F1A3B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4800" y="2628900"/>
            <a:ext cx="4969933" cy="5791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C52580-19C0-FECF-5F6D-A9B9FE2A8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583" y="2705100"/>
            <a:ext cx="5294817" cy="5791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83F091-71AA-D3B6-10B3-5338B7217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146" y="2705100"/>
            <a:ext cx="4931854" cy="5791200"/>
          </a:xfrm>
          <a:prstGeom prst="rect">
            <a:avLst/>
          </a:prstGeom>
        </p:spPr>
      </p:pic>
      <p:sp>
        <p:nvSpPr>
          <p:cNvPr id="10" name="TextBox 18">
            <a:extLst>
              <a:ext uri="{FF2B5EF4-FFF2-40B4-BE49-F238E27FC236}">
                <a16:creationId xmlns:a16="http://schemas.microsoft.com/office/drawing/2014/main" id="{D55144BE-2BED-2294-27B1-6414465AC1D2}"/>
              </a:ext>
            </a:extLst>
          </p:cNvPr>
          <p:cNvSpPr txBox="1"/>
          <p:nvPr/>
        </p:nvSpPr>
        <p:spPr>
          <a:xfrm>
            <a:off x="402146" y="2028479"/>
            <a:ext cx="2933700" cy="600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100"/>
              </a:lnSpc>
            </a:pPr>
            <a:r>
              <a:rPr lang="en-US" sz="3000" dirty="0">
                <a:solidFill>
                  <a:srgbClr val="FFFFFF"/>
                </a:solidFill>
                <a:latin typeface="DM Sans"/>
              </a:rPr>
              <a:t>LANTAI 1</a:t>
            </a: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5239C2CB-DE55-B2A9-6756-ED3DCA0A5222}"/>
              </a:ext>
            </a:extLst>
          </p:cNvPr>
          <p:cNvSpPr txBox="1"/>
          <p:nvPr/>
        </p:nvSpPr>
        <p:spPr>
          <a:xfrm>
            <a:off x="5918306" y="2007964"/>
            <a:ext cx="2933700" cy="600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100"/>
              </a:lnSpc>
            </a:pPr>
            <a:r>
              <a:rPr lang="en-US" sz="3000" dirty="0">
                <a:solidFill>
                  <a:srgbClr val="FFFFFF"/>
                </a:solidFill>
                <a:latin typeface="DM Sans"/>
              </a:rPr>
              <a:t>LANTAI 2</a:t>
            </a:r>
          </a:p>
        </p:txBody>
      </p:sp>
      <p:sp>
        <p:nvSpPr>
          <p:cNvPr id="12" name="TextBox 18">
            <a:extLst>
              <a:ext uri="{FF2B5EF4-FFF2-40B4-BE49-F238E27FC236}">
                <a16:creationId xmlns:a16="http://schemas.microsoft.com/office/drawing/2014/main" id="{A90C2AA5-6C58-C07C-C2F3-38EA31E502F1}"/>
              </a:ext>
            </a:extLst>
          </p:cNvPr>
          <p:cNvSpPr txBox="1"/>
          <p:nvPr/>
        </p:nvSpPr>
        <p:spPr>
          <a:xfrm>
            <a:off x="11752385" y="2007963"/>
            <a:ext cx="2933700" cy="600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100"/>
              </a:lnSpc>
            </a:pPr>
            <a:r>
              <a:rPr lang="en-US" sz="3000" dirty="0">
                <a:solidFill>
                  <a:srgbClr val="FFFFFF"/>
                </a:solidFill>
                <a:latin typeface="DM Sans"/>
              </a:rPr>
              <a:t>LANTAI 3</a:t>
            </a:r>
          </a:p>
        </p:txBody>
      </p:sp>
    </p:spTree>
    <p:extLst>
      <p:ext uri="{BB962C8B-B14F-4D97-AF65-F5344CB8AC3E}">
        <p14:creationId xmlns:p14="http://schemas.microsoft.com/office/powerpoint/2010/main" val="3053194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1496490" cy="10287000"/>
            <a:chOff x="0" y="0"/>
            <a:chExt cx="302788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27882" cy="2709333"/>
            </a:xfrm>
            <a:custGeom>
              <a:avLst/>
              <a:gdLst/>
              <a:ahLst/>
              <a:cxnLst/>
              <a:rect l="l" t="t" r="r" b="b"/>
              <a:pathLst>
                <a:path w="3027882" h="2709333">
                  <a:moveTo>
                    <a:pt x="0" y="0"/>
                  </a:moveTo>
                  <a:lnTo>
                    <a:pt x="3027882" y="0"/>
                  </a:lnTo>
                  <a:lnTo>
                    <a:pt x="302788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878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02788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3209440"/>
            <a:ext cx="7698393" cy="2503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080"/>
              </a:lnSpc>
            </a:pPr>
            <a:r>
              <a:rPr lang="en-US" sz="7200">
                <a:solidFill>
                  <a:srgbClr val="FFFFFF"/>
                </a:solidFill>
                <a:latin typeface="League Spartan Bold"/>
              </a:rPr>
              <a:t>TEKNIS PELAKSANAAN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496490" y="-58648"/>
            <a:ext cx="486847" cy="10827383"/>
            <a:chOff x="0" y="0"/>
            <a:chExt cx="128223" cy="28516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223" cy="2851656"/>
            </a:xfrm>
            <a:custGeom>
              <a:avLst/>
              <a:gdLst/>
              <a:ahLst/>
              <a:cxnLst/>
              <a:rect l="l" t="t" r="r" b="b"/>
              <a:pathLst>
                <a:path w="128223" h="2851656">
                  <a:moveTo>
                    <a:pt x="0" y="0"/>
                  </a:moveTo>
                  <a:lnTo>
                    <a:pt x="128223" y="0"/>
                  </a:lnTo>
                  <a:lnTo>
                    <a:pt x="128223" y="2851656"/>
                  </a:lnTo>
                  <a:lnTo>
                    <a:pt x="0" y="2851656"/>
                  </a:lnTo>
                  <a:close/>
                </a:path>
              </a:pathLst>
            </a:custGeom>
            <a:solidFill>
              <a:srgbClr val="FB824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223" cy="2889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9440425" y="8084236"/>
            <a:ext cx="7818875" cy="400717"/>
          </a:xfrm>
          <a:custGeom>
            <a:avLst/>
            <a:gdLst/>
            <a:ahLst/>
            <a:cxnLst/>
            <a:rect l="l" t="t" r="r" b="b"/>
            <a:pathLst>
              <a:path w="7818875" h="400717">
                <a:moveTo>
                  <a:pt x="0" y="0"/>
                </a:moveTo>
                <a:lnTo>
                  <a:pt x="7818875" y="0"/>
                </a:lnTo>
                <a:lnTo>
                  <a:pt x="7818875" y="400717"/>
                </a:lnTo>
                <a:lnTo>
                  <a:pt x="0" y="400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8700" y="9028197"/>
            <a:ext cx="3718844" cy="460207"/>
          </a:xfrm>
          <a:custGeom>
            <a:avLst/>
            <a:gdLst/>
            <a:ahLst/>
            <a:cxnLst/>
            <a:rect l="l" t="t" r="r" b="b"/>
            <a:pathLst>
              <a:path w="3718844" h="460207">
                <a:moveTo>
                  <a:pt x="0" y="0"/>
                </a:moveTo>
                <a:lnTo>
                  <a:pt x="3718844" y="0"/>
                </a:lnTo>
                <a:lnTo>
                  <a:pt x="3718844" y="460206"/>
                </a:lnTo>
                <a:lnTo>
                  <a:pt x="0" y="46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65623" y="9074951"/>
            <a:ext cx="3449621" cy="331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</a:pPr>
            <a:r>
              <a:rPr lang="en-US" sz="1963" dirty="0">
                <a:solidFill>
                  <a:srgbClr val="FFFFFF"/>
                </a:solidFill>
                <a:latin typeface="DM Sans"/>
              </a:rPr>
              <a:t>PT DISA PRIMA MEDIKA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08346" y="802038"/>
            <a:ext cx="3718844" cy="460207"/>
          </a:xfrm>
          <a:custGeom>
            <a:avLst/>
            <a:gdLst/>
            <a:ahLst/>
            <a:cxnLst/>
            <a:rect l="l" t="t" r="r" b="b"/>
            <a:pathLst>
              <a:path w="3718844" h="460207">
                <a:moveTo>
                  <a:pt x="0" y="0"/>
                </a:moveTo>
                <a:lnTo>
                  <a:pt x="3718844" y="0"/>
                </a:lnTo>
                <a:lnTo>
                  <a:pt x="3718844" y="460207"/>
                </a:lnTo>
                <a:lnTo>
                  <a:pt x="0" y="460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145269" y="848792"/>
            <a:ext cx="3449621" cy="32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</a:pPr>
            <a:r>
              <a:rPr lang="en-US" sz="1963">
                <a:solidFill>
                  <a:srgbClr val="FFFFFF"/>
                </a:solidFill>
                <a:latin typeface="DM Sans"/>
              </a:rPr>
              <a:t>PENDATAAN ASET 2023</a:t>
            </a:r>
          </a:p>
        </p:txBody>
      </p:sp>
      <p:sp>
        <p:nvSpPr>
          <p:cNvPr id="17" name="Freeform 17"/>
          <p:cNvSpPr/>
          <p:nvPr/>
        </p:nvSpPr>
        <p:spPr>
          <a:xfrm>
            <a:off x="16296343" y="688927"/>
            <a:ext cx="962957" cy="962957"/>
          </a:xfrm>
          <a:custGeom>
            <a:avLst/>
            <a:gdLst/>
            <a:ahLst/>
            <a:cxnLst/>
            <a:rect l="l" t="t" r="r" b="b"/>
            <a:pathLst>
              <a:path w="962957" h="962957">
                <a:moveTo>
                  <a:pt x="0" y="0"/>
                </a:moveTo>
                <a:lnTo>
                  <a:pt x="962957" y="0"/>
                </a:lnTo>
                <a:lnTo>
                  <a:pt x="962957" y="962957"/>
                </a:lnTo>
                <a:lnTo>
                  <a:pt x="0" y="9629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28700" y="6334610"/>
            <a:ext cx="7698393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100"/>
              </a:lnSpc>
            </a:pPr>
            <a:r>
              <a:rPr lang="en-US" sz="3000" dirty="0">
                <a:solidFill>
                  <a:srgbClr val="FFFFFF"/>
                </a:solidFill>
                <a:latin typeface="DM Sans"/>
              </a:rPr>
              <a:t>Together we impact the world!</a:t>
            </a:r>
          </a:p>
        </p:txBody>
      </p:sp>
      <p:sp>
        <p:nvSpPr>
          <p:cNvPr id="13" name="Freeform 2">
            <a:extLst>
              <a:ext uri="{FF2B5EF4-FFF2-40B4-BE49-F238E27FC236}">
                <a16:creationId xmlns:a16="http://schemas.microsoft.com/office/drawing/2014/main" id="{475DAE02-35D4-14E7-BFA4-671928BD5D03}"/>
              </a:ext>
            </a:extLst>
          </p:cNvPr>
          <p:cNvSpPr/>
          <p:nvPr/>
        </p:nvSpPr>
        <p:spPr>
          <a:xfrm>
            <a:off x="9031992" y="2605710"/>
            <a:ext cx="7698393" cy="5498665"/>
          </a:xfrm>
          <a:custGeom>
            <a:avLst/>
            <a:gdLst/>
            <a:ahLst/>
            <a:cxnLst/>
            <a:rect l="l" t="t" r="r" b="b"/>
            <a:pathLst>
              <a:path w="11832714" h="7129210">
                <a:moveTo>
                  <a:pt x="0" y="0"/>
                </a:moveTo>
                <a:lnTo>
                  <a:pt x="11832714" y="0"/>
                </a:lnTo>
                <a:lnTo>
                  <a:pt x="11832714" y="7129210"/>
                </a:lnTo>
                <a:lnTo>
                  <a:pt x="0" y="71292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75258" y="8083396"/>
            <a:ext cx="19466094" cy="2676600"/>
            <a:chOff x="0" y="0"/>
            <a:chExt cx="5126873" cy="7049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26873" cy="704948"/>
            </a:xfrm>
            <a:custGeom>
              <a:avLst/>
              <a:gdLst/>
              <a:ahLst/>
              <a:cxnLst/>
              <a:rect l="l" t="t" r="r" b="b"/>
              <a:pathLst>
                <a:path w="5126873" h="704948">
                  <a:moveTo>
                    <a:pt x="0" y="0"/>
                  </a:moveTo>
                  <a:lnTo>
                    <a:pt x="5126873" y="0"/>
                  </a:lnTo>
                  <a:lnTo>
                    <a:pt x="5126873" y="704948"/>
                  </a:lnTo>
                  <a:lnTo>
                    <a:pt x="0" y="704948"/>
                  </a:lnTo>
                  <a:close/>
                </a:path>
              </a:pathLst>
            </a:custGeom>
            <a:solidFill>
              <a:srgbClr val="00878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126873" cy="743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9028197"/>
            <a:ext cx="3718844" cy="460207"/>
          </a:xfrm>
          <a:custGeom>
            <a:avLst/>
            <a:gdLst/>
            <a:ahLst/>
            <a:cxnLst/>
            <a:rect l="l" t="t" r="r" b="b"/>
            <a:pathLst>
              <a:path w="3718844" h="460207">
                <a:moveTo>
                  <a:pt x="0" y="0"/>
                </a:moveTo>
                <a:lnTo>
                  <a:pt x="3718844" y="0"/>
                </a:lnTo>
                <a:lnTo>
                  <a:pt x="3718844" y="460206"/>
                </a:lnTo>
                <a:lnTo>
                  <a:pt x="0" y="460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372543" y="421660"/>
            <a:ext cx="962957" cy="962957"/>
          </a:xfrm>
          <a:custGeom>
            <a:avLst/>
            <a:gdLst/>
            <a:ahLst/>
            <a:cxnLst/>
            <a:rect l="l" t="t" r="r" b="b"/>
            <a:pathLst>
              <a:path w="962957" h="962957">
                <a:moveTo>
                  <a:pt x="0" y="0"/>
                </a:moveTo>
                <a:lnTo>
                  <a:pt x="962957" y="0"/>
                </a:lnTo>
                <a:lnTo>
                  <a:pt x="962957" y="962957"/>
                </a:lnTo>
                <a:lnTo>
                  <a:pt x="0" y="9629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0" y="-596369"/>
            <a:ext cx="499785" cy="4496505"/>
            <a:chOff x="0" y="0"/>
            <a:chExt cx="131631" cy="118426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1631" cy="1184265"/>
            </a:xfrm>
            <a:custGeom>
              <a:avLst/>
              <a:gdLst/>
              <a:ahLst/>
              <a:cxnLst/>
              <a:rect l="l" t="t" r="r" b="b"/>
              <a:pathLst>
                <a:path w="131631" h="1184265">
                  <a:moveTo>
                    <a:pt x="0" y="0"/>
                  </a:moveTo>
                  <a:lnTo>
                    <a:pt x="131631" y="0"/>
                  </a:lnTo>
                  <a:lnTo>
                    <a:pt x="131631" y="1184265"/>
                  </a:lnTo>
                  <a:lnTo>
                    <a:pt x="0" y="1184265"/>
                  </a:lnTo>
                  <a:close/>
                </a:path>
              </a:pathLst>
            </a:custGeom>
            <a:solidFill>
              <a:srgbClr val="FB824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1631" cy="12223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0118" y="2275058"/>
            <a:ext cx="3966495" cy="1719887"/>
            <a:chOff x="0" y="-66675"/>
            <a:chExt cx="812800" cy="3226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256015"/>
            </a:xfrm>
            <a:custGeom>
              <a:avLst/>
              <a:gdLst/>
              <a:ahLst/>
              <a:cxnLst/>
              <a:rect l="l" t="t" r="r" b="b"/>
              <a:pathLst>
                <a:path w="812800" h="256015">
                  <a:moveTo>
                    <a:pt x="0" y="0"/>
                  </a:moveTo>
                  <a:lnTo>
                    <a:pt x="812800" y="0"/>
                  </a:lnTo>
                  <a:lnTo>
                    <a:pt x="812800" y="256015"/>
                  </a:lnTo>
                  <a:lnTo>
                    <a:pt x="0" y="256015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ADB5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812800" cy="3226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000" dirty="0">
                  <a:latin typeface="DM Sans"/>
                </a:rPr>
                <a:t>PENANGGUNG JAWAB RUANG MENGISI </a:t>
              </a:r>
              <a:r>
                <a:rPr lang="en-US" sz="2000" dirty="0">
                  <a:latin typeface="DM Sans"/>
                  <a:hlinkClick r:id="rId6" action="ppaction://hlinkfile"/>
                </a:rPr>
                <a:t>KERTAS KERJA</a:t>
              </a:r>
              <a:endParaRPr lang="en-US" sz="2000" dirty="0">
                <a:latin typeface="DM Sans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75757" y="444183"/>
            <a:ext cx="14373490" cy="104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540"/>
              </a:lnSpc>
            </a:pPr>
            <a:r>
              <a:rPr lang="en-US" sz="6100">
                <a:solidFill>
                  <a:srgbClr val="006B70"/>
                </a:solidFill>
                <a:latin typeface="League Spartan Bold"/>
              </a:rPr>
              <a:t>PENDATAAN &amp; IDENTIFIKASI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5623" y="9074951"/>
            <a:ext cx="3449621" cy="32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</a:pPr>
            <a:r>
              <a:rPr lang="en-US" sz="1963">
                <a:solidFill>
                  <a:srgbClr val="FFFFFF"/>
                </a:solidFill>
                <a:latin typeface="DM Sans"/>
              </a:rPr>
              <a:t>PENDATAAN ASET 2023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2205" y="1684557"/>
            <a:ext cx="2332289" cy="555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2799">
                <a:solidFill>
                  <a:srgbClr val="006B70"/>
                </a:solidFill>
                <a:latin typeface="DM Sans Bold"/>
              </a:rPr>
              <a:t>PENDATAAN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391950" y="2760154"/>
            <a:ext cx="4208889" cy="972058"/>
            <a:chOff x="0" y="0"/>
            <a:chExt cx="1108514" cy="25601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08514" cy="256015"/>
            </a:xfrm>
            <a:custGeom>
              <a:avLst/>
              <a:gdLst/>
              <a:ahLst/>
              <a:cxnLst/>
              <a:rect l="l" t="t" r="r" b="b"/>
              <a:pathLst>
                <a:path w="1108514" h="256015">
                  <a:moveTo>
                    <a:pt x="0" y="0"/>
                  </a:moveTo>
                  <a:lnTo>
                    <a:pt x="1108514" y="0"/>
                  </a:lnTo>
                  <a:lnTo>
                    <a:pt x="1108514" y="256015"/>
                  </a:lnTo>
                  <a:lnTo>
                    <a:pt x="0" y="256015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ADB5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1108514" cy="3226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000" dirty="0">
                  <a:latin typeface="DM Sans"/>
                </a:rPr>
                <a:t>KIRIM KERTAS KERJA KE EMAIL </a:t>
              </a:r>
              <a:r>
                <a:rPr lang="en-US" sz="2000" dirty="0">
                  <a:solidFill>
                    <a:srgbClr val="00B0F0"/>
                  </a:solidFill>
                  <a:latin typeface="DM Sans"/>
                  <a:hlinkClick r:id="rId7"/>
                </a:rPr>
                <a:t>manajemenasetdpm@gmail.com</a:t>
              </a:r>
              <a:r>
                <a:rPr lang="en-US" sz="2000" u="sng" dirty="0">
                  <a:solidFill>
                    <a:srgbClr val="00B0F0"/>
                  </a:solidFill>
                  <a:latin typeface="DM Sans"/>
                </a:rPr>
                <a:t> </a:t>
              </a:r>
              <a:endParaRPr lang="en-US" sz="2000" dirty="0">
                <a:solidFill>
                  <a:srgbClr val="00B0F0"/>
                </a:solidFill>
                <a:latin typeface="DM San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162601" y="2760154"/>
            <a:ext cx="4208889" cy="972058"/>
            <a:chOff x="0" y="0"/>
            <a:chExt cx="1108514" cy="25601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08514" cy="256015"/>
            </a:xfrm>
            <a:custGeom>
              <a:avLst/>
              <a:gdLst/>
              <a:ahLst/>
              <a:cxnLst/>
              <a:rect l="l" t="t" r="r" b="b"/>
              <a:pathLst>
                <a:path w="1108514" h="256015">
                  <a:moveTo>
                    <a:pt x="0" y="0"/>
                  </a:moveTo>
                  <a:lnTo>
                    <a:pt x="1108514" y="0"/>
                  </a:lnTo>
                  <a:lnTo>
                    <a:pt x="1108514" y="256015"/>
                  </a:lnTo>
                  <a:lnTo>
                    <a:pt x="0" y="256015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ADB5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1108514" cy="3226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000" dirty="0">
                  <a:latin typeface="DM Sans"/>
                </a:rPr>
                <a:t>PANITIA OPNAME ASET MELAKUKAN VERIFIKASI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5326613" y="3265233"/>
            <a:ext cx="1065337" cy="0"/>
          </a:xfrm>
          <a:prstGeom prst="line">
            <a:avLst/>
          </a:prstGeom>
          <a:ln w="38100" cap="flat">
            <a:solidFill>
              <a:srgbClr val="00ADB5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5" name="AutoShape 25"/>
          <p:cNvSpPr/>
          <p:nvPr/>
        </p:nvSpPr>
        <p:spPr>
          <a:xfrm>
            <a:off x="10601072" y="3227134"/>
            <a:ext cx="1561529" cy="0"/>
          </a:xfrm>
          <a:prstGeom prst="line">
            <a:avLst/>
          </a:prstGeom>
          <a:ln w="38100" cap="flat">
            <a:solidFill>
              <a:srgbClr val="00ADB5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6" name="TextBox 26"/>
          <p:cNvSpPr txBox="1"/>
          <p:nvPr/>
        </p:nvSpPr>
        <p:spPr>
          <a:xfrm>
            <a:off x="872205" y="4297609"/>
            <a:ext cx="2332289" cy="555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2799" dirty="0">
                <a:solidFill>
                  <a:srgbClr val="006B70"/>
                </a:solidFill>
                <a:latin typeface="DM Sans Bold"/>
              </a:rPr>
              <a:t>IDENTIFIKASI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133358" y="5126136"/>
            <a:ext cx="4208889" cy="972058"/>
            <a:chOff x="0" y="0"/>
            <a:chExt cx="1108514" cy="25601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08514" cy="256015"/>
            </a:xfrm>
            <a:custGeom>
              <a:avLst/>
              <a:gdLst/>
              <a:ahLst/>
              <a:cxnLst/>
              <a:rect l="l" t="t" r="r" b="b"/>
              <a:pathLst>
                <a:path w="1108514" h="256015">
                  <a:moveTo>
                    <a:pt x="0" y="0"/>
                  </a:moveTo>
                  <a:lnTo>
                    <a:pt x="1108514" y="0"/>
                  </a:lnTo>
                  <a:lnTo>
                    <a:pt x="1108514" y="256015"/>
                  </a:lnTo>
                  <a:lnTo>
                    <a:pt x="0" y="256015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ADB5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66675"/>
              <a:ext cx="1108514" cy="3226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000" dirty="0">
                  <a:latin typeface="DM Sans"/>
                </a:rPr>
                <a:t>MELAKUKAN PENILAIAN SESUAI STANDART AKUNTANSI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705269" y="4979874"/>
            <a:ext cx="4208889" cy="1369755"/>
            <a:chOff x="0" y="0"/>
            <a:chExt cx="1108514" cy="36075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08514" cy="360759"/>
            </a:xfrm>
            <a:custGeom>
              <a:avLst/>
              <a:gdLst/>
              <a:ahLst/>
              <a:cxnLst/>
              <a:rect l="l" t="t" r="r" b="b"/>
              <a:pathLst>
                <a:path w="1108514" h="360759">
                  <a:moveTo>
                    <a:pt x="0" y="0"/>
                  </a:moveTo>
                  <a:lnTo>
                    <a:pt x="1108514" y="0"/>
                  </a:lnTo>
                  <a:lnTo>
                    <a:pt x="1108514" y="360759"/>
                  </a:lnTo>
                  <a:lnTo>
                    <a:pt x="0" y="360759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ADB5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66675"/>
              <a:ext cx="1108514" cy="427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000" dirty="0">
                  <a:latin typeface="DM Sans"/>
                </a:rPr>
                <a:t>MEMISAHKAN BARANG SESUAI KONDISI (BAIK, RUSAK RINGAN, RUSAK BERAT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77180" y="5178722"/>
            <a:ext cx="4208889" cy="972058"/>
            <a:chOff x="0" y="0"/>
            <a:chExt cx="1108514" cy="25601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08514" cy="256015"/>
            </a:xfrm>
            <a:custGeom>
              <a:avLst/>
              <a:gdLst/>
              <a:ahLst/>
              <a:cxnLst/>
              <a:rect l="l" t="t" r="r" b="b"/>
              <a:pathLst>
                <a:path w="1108514" h="256015">
                  <a:moveTo>
                    <a:pt x="0" y="0"/>
                  </a:moveTo>
                  <a:lnTo>
                    <a:pt x="1108514" y="0"/>
                  </a:lnTo>
                  <a:lnTo>
                    <a:pt x="1108514" y="256015"/>
                  </a:lnTo>
                  <a:lnTo>
                    <a:pt x="0" y="256015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ADB5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66675"/>
              <a:ext cx="1108514" cy="3226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000" dirty="0">
                  <a:latin typeface="DM Sans"/>
                </a:rPr>
                <a:t>VALIDASI KELENGKAPAN ASET DENGAN DATA SUMBER </a:t>
              </a:r>
            </a:p>
          </p:txBody>
        </p:sp>
      </p:grpSp>
      <p:sp>
        <p:nvSpPr>
          <p:cNvPr id="36" name="AutoShape 36"/>
          <p:cNvSpPr/>
          <p:nvPr/>
        </p:nvSpPr>
        <p:spPr>
          <a:xfrm flipH="1">
            <a:off x="14249400" y="3732212"/>
            <a:ext cx="17642" cy="1411288"/>
          </a:xfrm>
          <a:prstGeom prst="line">
            <a:avLst/>
          </a:prstGeom>
          <a:ln w="38100" cap="flat">
            <a:solidFill>
              <a:srgbClr val="00ADB5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7" name="AutoShape 37"/>
          <p:cNvSpPr/>
          <p:nvPr/>
        </p:nvSpPr>
        <p:spPr>
          <a:xfrm>
            <a:off x="10914158" y="5664751"/>
            <a:ext cx="1219200" cy="0"/>
          </a:xfrm>
          <a:prstGeom prst="line">
            <a:avLst/>
          </a:prstGeom>
          <a:ln w="38100" cap="flat">
            <a:solidFill>
              <a:srgbClr val="00ADB5"/>
            </a:solidFill>
            <a:prstDash val="solid"/>
            <a:headEnd type="arrow" w="med" len="sm"/>
            <a:tailEnd type="none" w="sm" len="sm"/>
          </a:ln>
        </p:spPr>
      </p:sp>
      <p:sp>
        <p:nvSpPr>
          <p:cNvPr id="38" name="AutoShape 38"/>
          <p:cNvSpPr/>
          <p:nvPr/>
        </p:nvSpPr>
        <p:spPr>
          <a:xfrm>
            <a:off x="5486069" y="5593115"/>
            <a:ext cx="1219200" cy="0"/>
          </a:xfrm>
          <a:prstGeom prst="line">
            <a:avLst/>
          </a:prstGeom>
          <a:ln w="38100" cap="flat">
            <a:solidFill>
              <a:srgbClr val="00ADB5"/>
            </a:solidFill>
            <a:prstDash val="solid"/>
            <a:headEnd type="arrow" w="med" len="sm"/>
            <a:tailEnd type="none" w="sm" len="sm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7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747572"/>
            <a:ext cx="18288000" cy="5124261"/>
            <a:chOff x="0" y="0"/>
            <a:chExt cx="24384000" cy="6832348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8000"/>
            </a:blip>
            <a:srcRect t="9853" b="47692"/>
            <a:stretch>
              <a:fillRect/>
            </a:stretch>
          </p:blipFill>
          <p:spPr>
            <a:xfrm>
              <a:off x="0" y="0"/>
              <a:ext cx="24384000" cy="6832348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0"/>
            <a:ext cx="18288000" cy="2551563"/>
            <a:chOff x="0" y="0"/>
            <a:chExt cx="4816593" cy="6720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672017"/>
            </a:xfrm>
            <a:custGeom>
              <a:avLst/>
              <a:gdLst/>
              <a:ahLst/>
              <a:cxnLst/>
              <a:rect l="l" t="t" r="r" b="b"/>
              <a:pathLst>
                <a:path w="4816592" h="672017">
                  <a:moveTo>
                    <a:pt x="0" y="0"/>
                  </a:moveTo>
                  <a:lnTo>
                    <a:pt x="4816592" y="0"/>
                  </a:lnTo>
                  <a:lnTo>
                    <a:pt x="4816592" y="672017"/>
                  </a:lnTo>
                  <a:lnTo>
                    <a:pt x="0" y="67201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7101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602431" y="3809094"/>
            <a:ext cx="13083137" cy="219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4"/>
              </a:lnSpc>
            </a:pPr>
            <a:r>
              <a:rPr lang="en-US" sz="12745">
                <a:solidFill>
                  <a:srgbClr val="FFFFFF"/>
                </a:solidFill>
                <a:latin typeface="League Spartan Bold"/>
              </a:rPr>
              <a:t>Thank You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0" y="8234308"/>
            <a:ext cx="18288000" cy="2047984"/>
            <a:chOff x="0" y="0"/>
            <a:chExt cx="4816593" cy="5393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539387"/>
            </a:xfrm>
            <a:custGeom>
              <a:avLst/>
              <a:gdLst/>
              <a:ahLst/>
              <a:cxnLst/>
              <a:rect l="l" t="t" r="r" b="b"/>
              <a:pathLst>
                <a:path w="4816592" h="539387">
                  <a:moveTo>
                    <a:pt x="0" y="0"/>
                  </a:moveTo>
                  <a:lnTo>
                    <a:pt x="4816592" y="0"/>
                  </a:lnTo>
                  <a:lnTo>
                    <a:pt x="4816592" y="539387"/>
                  </a:lnTo>
                  <a:lnTo>
                    <a:pt x="0" y="53938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16593" cy="577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296343" y="688927"/>
            <a:ext cx="962957" cy="962957"/>
          </a:xfrm>
          <a:custGeom>
            <a:avLst/>
            <a:gdLst/>
            <a:ahLst/>
            <a:cxnLst/>
            <a:rect l="l" t="t" r="r" b="b"/>
            <a:pathLst>
              <a:path w="962957" h="962957">
                <a:moveTo>
                  <a:pt x="0" y="0"/>
                </a:moveTo>
                <a:lnTo>
                  <a:pt x="962957" y="0"/>
                </a:lnTo>
                <a:lnTo>
                  <a:pt x="962957" y="962957"/>
                </a:lnTo>
                <a:lnTo>
                  <a:pt x="0" y="96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8700" y="9028197"/>
            <a:ext cx="3718844" cy="460207"/>
          </a:xfrm>
          <a:custGeom>
            <a:avLst/>
            <a:gdLst/>
            <a:ahLst/>
            <a:cxnLst/>
            <a:rect l="l" t="t" r="r" b="b"/>
            <a:pathLst>
              <a:path w="3718844" h="460207">
                <a:moveTo>
                  <a:pt x="0" y="0"/>
                </a:moveTo>
                <a:lnTo>
                  <a:pt x="3718844" y="0"/>
                </a:lnTo>
                <a:lnTo>
                  <a:pt x="3718844" y="460206"/>
                </a:lnTo>
                <a:lnTo>
                  <a:pt x="0" y="460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08346" y="802038"/>
            <a:ext cx="3718844" cy="460207"/>
          </a:xfrm>
          <a:custGeom>
            <a:avLst/>
            <a:gdLst/>
            <a:ahLst/>
            <a:cxnLst/>
            <a:rect l="l" t="t" r="r" b="b"/>
            <a:pathLst>
              <a:path w="3718844" h="460207">
                <a:moveTo>
                  <a:pt x="0" y="0"/>
                </a:moveTo>
                <a:lnTo>
                  <a:pt x="3718844" y="0"/>
                </a:lnTo>
                <a:lnTo>
                  <a:pt x="3718844" y="460207"/>
                </a:lnTo>
                <a:lnTo>
                  <a:pt x="0" y="4602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65623" y="9074951"/>
            <a:ext cx="3449621" cy="32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</a:pPr>
            <a:r>
              <a:rPr lang="en-US" sz="1963">
                <a:solidFill>
                  <a:srgbClr val="006B70"/>
                </a:solidFill>
                <a:latin typeface="DM Sans"/>
              </a:rPr>
              <a:t>PENDATAAN ASET 2023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5269" y="848792"/>
            <a:ext cx="3449621" cy="32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</a:pPr>
            <a:r>
              <a:rPr lang="en-US" sz="1963">
                <a:solidFill>
                  <a:srgbClr val="006B70"/>
                </a:solidFill>
                <a:latin typeface="DM Sans"/>
              </a:rPr>
              <a:t>PT DISA PRIMA MEDIKA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-1340855" y="7871833"/>
            <a:ext cx="21620423" cy="362475"/>
            <a:chOff x="0" y="0"/>
            <a:chExt cx="5694268" cy="9546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694268" cy="95467"/>
            </a:xfrm>
            <a:custGeom>
              <a:avLst/>
              <a:gdLst/>
              <a:ahLst/>
              <a:cxnLst/>
              <a:rect l="l" t="t" r="r" b="b"/>
              <a:pathLst>
                <a:path w="5694268" h="95467">
                  <a:moveTo>
                    <a:pt x="0" y="0"/>
                  </a:moveTo>
                  <a:lnTo>
                    <a:pt x="5694268" y="0"/>
                  </a:lnTo>
                  <a:lnTo>
                    <a:pt x="5694268" y="95467"/>
                  </a:lnTo>
                  <a:lnTo>
                    <a:pt x="0" y="95467"/>
                  </a:lnTo>
                  <a:close/>
                </a:path>
              </a:pathLst>
            </a:custGeom>
            <a:solidFill>
              <a:srgbClr val="FB824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694268" cy="133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1666211" y="2355554"/>
            <a:ext cx="21620423" cy="392018"/>
            <a:chOff x="0" y="0"/>
            <a:chExt cx="5694268" cy="10324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694268" cy="103247"/>
            </a:xfrm>
            <a:custGeom>
              <a:avLst/>
              <a:gdLst/>
              <a:ahLst/>
              <a:cxnLst/>
              <a:rect l="l" t="t" r="r" b="b"/>
              <a:pathLst>
                <a:path w="5694268" h="103247">
                  <a:moveTo>
                    <a:pt x="0" y="0"/>
                  </a:moveTo>
                  <a:lnTo>
                    <a:pt x="5694268" y="0"/>
                  </a:lnTo>
                  <a:lnTo>
                    <a:pt x="5694268" y="103247"/>
                  </a:lnTo>
                  <a:lnTo>
                    <a:pt x="0" y="103247"/>
                  </a:lnTo>
                  <a:close/>
                </a:path>
              </a:pathLst>
            </a:custGeom>
            <a:solidFill>
              <a:srgbClr val="FB824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694268" cy="141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169185" y="5827780"/>
            <a:ext cx="6751622" cy="734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85"/>
              </a:lnSpc>
            </a:pPr>
            <a:r>
              <a:rPr lang="en-US" sz="3697">
                <a:solidFill>
                  <a:srgbClr val="FFFFFF"/>
                </a:solidFill>
                <a:latin typeface="DM Sans"/>
              </a:rPr>
              <a:t>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166</Words>
  <Application>Microsoft Office PowerPoint</Application>
  <PresentationFormat>Custom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DM Sans Bold</vt:lpstr>
      <vt:lpstr>DM Sans</vt:lpstr>
      <vt:lpstr>Calibri</vt:lpstr>
      <vt:lpstr>Arial</vt:lpstr>
      <vt:lpstr>League Spartan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Orange and White Corporate Project Proposal Presentation</dc:title>
  <dc:creator>KEUANGAN YOSA</dc:creator>
  <cp:lastModifiedBy>KEUANGAN YOSA</cp:lastModifiedBy>
  <cp:revision>10</cp:revision>
  <dcterms:created xsi:type="dcterms:W3CDTF">2006-08-16T00:00:00Z</dcterms:created>
  <dcterms:modified xsi:type="dcterms:W3CDTF">2023-12-20T01:46:54Z</dcterms:modified>
  <dc:identifier>DAF3T561Vc4</dc:identifier>
</cp:coreProperties>
</file>