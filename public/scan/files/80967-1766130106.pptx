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29.jpg" ContentType="image/jpg"/>
  <Override PartName="/ppt/notesSlides/notesSlide3.xml" ContentType="application/vnd.openxmlformats-officedocument.presentationml.notesSlide+xml"/>
  <Override PartName="/ppt/media/image32.jpg" ContentType="image/jpg"/>
  <Override PartName="/ppt/notesSlides/notesSlide4.xml" ContentType="application/vnd.openxmlformats-officedocument.presentationml.notesSlide+xml"/>
  <Override PartName="/ppt/media/image39.jpg" ContentType="image/jpg"/>
  <Override PartName="/ppt/media/image41.jpg" ContentType="image/jpg"/>
  <Override PartName="/ppt/media/image42.jpg" ContentType="image/jp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sldIdLst>
    <p:sldId id="313" r:id="rId2"/>
    <p:sldId id="264" r:id="rId3"/>
    <p:sldId id="310" r:id="rId4"/>
    <p:sldId id="256" r:id="rId5"/>
    <p:sldId id="265" r:id="rId6"/>
    <p:sldId id="267" r:id="rId7"/>
    <p:sldId id="266" r:id="rId8"/>
    <p:sldId id="277" r:id="rId9"/>
    <p:sldId id="268" r:id="rId10"/>
    <p:sldId id="269" r:id="rId11"/>
    <p:sldId id="270" r:id="rId12"/>
    <p:sldId id="271" r:id="rId13"/>
    <p:sldId id="273" r:id="rId14"/>
    <p:sldId id="272" r:id="rId15"/>
    <p:sldId id="274" r:id="rId16"/>
    <p:sldId id="275" r:id="rId17"/>
    <p:sldId id="276" r:id="rId18"/>
    <p:sldId id="278" r:id="rId19"/>
    <p:sldId id="280" r:id="rId20"/>
    <p:sldId id="281" r:id="rId21"/>
    <p:sldId id="282" r:id="rId22"/>
    <p:sldId id="284" r:id="rId23"/>
    <p:sldId id="285" r:id="rId24"/>
    <p:sldId id="286" r:id="rId25"/>
    <p:sldId id="311" r:id="rId26"/>
    <p:sldId id="288" r:id="rId27"/>
    <p:sldId id="312" r:id="rId28"/>
    <p:sldId id="263" r:id="rId29"/>
    <p:sldId id="314" r:id="rId30"/>
  </p:sldIdLst>
  <p:sldSz cx="18288000" cy="10287000"/>
  <p:notesSz cx="6858000" cy="9144000"/>
  <p:embeddedFontLst>
    <p:embeddedFont>
      <p:font typeface="Arial Black" panose="020B0A04020102020204" pitchFamily="34" charset="0"/>
      <p:bold r:id="rId32"/>
    </p:embeddedFont>
    <p:embeddedFont>
      <p:font typeface="Montserrat" panose="00000500000000000000" pitchFamily="2" charset="0"/>
      <p:regular r:id="rId33"/>
      <p:bold r:id="rId34"/>
      <p:italic r:id="rId35"/>
      <p:boldItalic r:id="rId36"/>
    </p:embeddedFont>
    <p:embeddedFont>
      <p:font typeface="Montserrat Bold" panose="020B0604020202020204" charset="0"/>
      <p:regular r:id="rId37"/>
    </p:embeddedFont>
    <p:embeddedFont>
      <p:font typeface="Poppins" panose="00000500000000000000" pitchFamily="2" charset="0"/>
      <p:regular r:id="rId38"/>
      <p:bold r:id="rId39"/>
      <p:italic r:id="rId40"/>
      <p:boldItalic r:id="rId41"/>
    </p:embeddedFont>
    <p:embeddedFont>
      <p:font typeface="Segoe UI Variable Small" pitchFamily="2" charset="0"/>
      <p:regular r:id="rId42"/>
      <p:bold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A8C75-337B-4C26-A295-7DED1043806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A5FB2-228B-4D39-8153-76EC80785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33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A5FB2-228B-4D39-8153-76EC807852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22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A5FB2-228B-4D39-8153-76EC8078524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11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1873-9813-0EBE-4AEF-4F4C5D68D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8C7944-AC02-B221-3EEF-715423CC1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81204-F8D5-19FB-D544-F7DF7C78F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CC312-6613-707E-8224-612421973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A5FB2-228B-4D39-8153-76EC8078524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21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A5FB2-228B-4D39-8153-76EC8078524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21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68760-1019-D559-DAB2-7ADD92331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AF3EA8-C20E-E1C5-1F61-AFE4AD66B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616E58-BFE2-2F68-2A1C-CA93B0CEC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23CD8-63C9-1564-9B15-DE2B50BB8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A5FB2-228B-4D39-8153-76EC8078524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048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87FA8-EC09-57B2-8251-7400CF1D8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04819E-E37F-1640-444D-BE697E23D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701FB8-B9D1-DA81-E774-2E66D7916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E3FBD-47F9-B656-650E-6B27CD2E93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A5FB2-228B-4D39-8153-76EC8078524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34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1F983-F355-44A1-126B-D2DD3FC9F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00D4C4-828B-473A-65AE-E9F7D9234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E0F28-7907-4F3F-759A-A8452868B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DF090-C008-9CA3-0888-200BC153F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A5FB2-228B-4D39-8153-76EC8078524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077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A5FB2-228B-4D39-8153-76EC8078524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926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1_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1905000" y="0"/>
            <a:ext cx="5947200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450450" y="4044260"/>
            <a:ext cx="4856400" cy="22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None/>
              <a:defRPr sz="90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450450" y="7525025"/>
            <a:ext cx="4856400" cy="15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401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2450450" y="1221686"/>
            <a:ext cx="4856400" cy="20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20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24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24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24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24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24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24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24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24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528844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jpeg"/><Relationship Id="rId10" Type="http://schemas.openxmlformats.org/officeDocument/2006/relationships/image" Target="../media/image10.pn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svg"/><Relationship Id="rId10" Type="http://schemas.openxmlformats.org/officeDocument/2006/relationships/image" Target="../media/image10.png"/><Relationship Id="rId4" Type="http://schemas.openxmlformats.org/officeDocument/2006/relationships/image" Target="../media/image15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8.png"/><Relationship Id="rId7" Type="http://schemas.openxmlformats.org/officeDocument/2006/relationships/image" Target="../media/image26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9.jp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svg"/><Relationship Id="rId10" Type="http://schemas.openxmlformats.org/officeDocument/2006/relationships/image" Target="../media/image10.png"/><Relationship Id="rId4" Type="http://schemas.openxmlformats.org/officeDocument/2006/relationships/image" Target="../media/image15.png"/><Relationship Id="rId9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8.png"/><Relationship Id="rId7" Type="http://schemas.openxmlformats.org/officeDocument/2006/relationships/image" Target="../media/image34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10.png"/><Relationship Id="rId10" Type="http://schemas.openxmlformats.org/officeDocument/2006/relationships/image" Target="../media/image37.png"/><Relationship Id="rId4" Type="http://schemas.openxmlformats.org/officeDocument/2006/relationships/image" Target="../media/image9.png"/><Relationship Id="rId9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g"/><Relationship Id="rId3" Type="http://schemas.openxmlformats.org/officeDocument/2006/relationships/image" Target="../media/image14.jpeg"/><Relationship Id="rId7" Type="http://schemas.openxmlformats.org/officeDocument/2006/relationships/image" Target="../media/image39.jpg"/><Relationship Id="rId12" Type="http://schemas.openxmlformats.org/officeDocument/2006/relationships/image" Target="../media/image4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43.jpg"/><Relationship Id="rId5" Type="http://schemas.openxmlformats.org/officeDocument/2006/relationships/image" Target="../media/image9.png"/><Relationship Id="rId10" Type="http://schemas.openxmlformats.org/officeDocument/2006/relationships/image" Target="../media/image42.jpg"/><Relationship Id="rId4" Type="http://schemas.openxmlformats.org/officeDocument/2006/relationships/image" Target="../media/image8.png"/><Relationship Id="rId9" Type="http://schemas.openxmlformats.org/officeDocument/2006/relationships/image" Target="../media/image41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5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jpeg"/><Relationship Id="rId9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E1D2F-6F5A-6E40-D2EB-E6FF4722D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876300"/>
            <a:ext cx="7772400" cy="1470025"/>
          </a:xfrm>
        </p:spPr>
        <p:txBody>
          <a:bodyPr/>
          <a:lstStyle/>
          <a:p>
            <a:r>
              <a:rPr lang="id-ID" dirty="0">
                <a:latin typeface="Arial Black" panose="020B0A04020102020204" pitchFamily="34" charset="0"/>
              </a:rPr>
              <a:t>PRE TEST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78C6D1-EC67-973D-3634-02E4418DC3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150" y="2095500"/>
            <a:ext cx="6743700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31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57915" y="4758777"/>
            <a:ext cx="21264150" cy="6371020"/>
          </a:xfrm>
          <a:custGeom>
            <a:avLst/>
            <a:gdLst/>
            <a:ahLst/>
            <a:cxnLst/>
            <a:rect l="l" t="t" r="r" b="b"/>
            <a:pathLst>
              <a:path w="21264150" h="6371020">
                <a:moveTo>
                  <a:pt x="21264150" y="0"/>
                </a:moveTo>
                <a:lnTo>
                  <a:pt x="0" y="0"/>
                </a:lnTo>
                <a:lnTo>
                  <a:pt x="0" y="6371019"/>
                </a:lnTo>
                <a:lnTo>
                  <a:pt x="21264150" y="6371019"/>
                </a:lnTo>
                <a:lnTo>
                  <a:pt x="2126415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493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1816715" y="-1563454"/>
            <a:ext cx="8637270" cy="863727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284320" y="415956"/>
              <a:ext cx="5781360" cy="5518089"/>
            </a:xfrm>
            <a:custGeom>
              <a:avLst/>
              <a:gdLst/>
              <a:ahLst/>
              <a:cxnLst/>
              <a:rect l="l" t="t" r="r" b="b"/>
              <a:pathLst>
                <a:path w="5781360" h="5518089">
                  <a:moveTo>
                    <a:pt x="2890680" y="4414"/>
                  </a:moveTo>
                  <a:cubicBezTo>
                    <a:pt x="1903611" y="0"/>
                    <a:pt x="989627" y="524062"/>
                    <a:pt x="494813" y="1378160"/>
                  </a:cubicBezTo>
                  <a:cubicBezTo>
                    <a:pt x="0" y="2232259"/>
                    <a:pt x="0" y="3285829"/>
                    <a:pt x="494813" y="4139928"/>
                  </a:cubicBezTo>
                  <a:cubicBezTo>
                    <a:pt x="989627" y="4994026"/>
                    <a:pt x="1903611" y="5518088"/>
                    <a:pt x="2890680" y="5513674"/>
                  </a:cubicBezTo>
                  <a:cubicBezTo>
                    <a:pt x="3877749" y="5518088"/>
                    <a:pt x="4791733" y="4994026"/>
                    <a:pt x="5286547" y="4139928"/>
                  </a:cubicBezTo>
                  <a:cubicBezTo>
                    <a:pt x="5781360" y="3285829"/>
                    <a:pt x="5781360" y="2232259"/>
                    <a:pt x="5286547" y="1378161"/>
                  </a:cubicBezTo>
                  <a:cubicBezTo>
                    <a:pt x="4791733" y="524062"/>
                    <a:pt x="3877749" y="0"/>
                    <a:pt x="2890680" y="4414"/>
                  </a:cubicBezTo>
                  <a:close/>
                </a:path>
              </a:pathLst>
            </a:custGeom>
            <a:blipFill>
              <a:blip r:embed="rId4"/>
              <a:stretch>
                <a:fillRect l="-21993" r="-2199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4285632" y="5618010"/>
            <a:ext cx="5120603" cy="5120603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284320" y="415956"/>
              <a:ext cx="5781360" cy="5518089"/>
            </a:xfrm>
            <a:custGeom>
              <a:avLst/>
              <a:gdLst/>
              <a:ahLst/>
              <a:cxnLst/>
              <a:rect l="l" t="t" r="r" b="b"/>
              <a:pathLst>
                <a:path w="5781360" h="5518089">
                  <a:moveTo>
                    <a:pt x="2890680" y="4414"/>
                  </a:moveTo>
                  <a:cubicBezTo>
                    <a:pt x="1903611" y="0"/>
                    <a:pt x="989627" y="524062"/>
                    <a:pt x="494813" y="1378160"/>
                  </a:cubicBezTo>
                  <a:cubicBezTo>
                    <a:pt x="0" y="2232259"/>
                    <a:pt x="0" y="3285829"/>
                    <a:pt x="494813" y="4139928"/>
                  </a:cubicBezTo>
                  <a:cubicBezTo>
                    <a:pt x="989627" y="4994026"/>
                    <a:pt x="1903611" y="5518088"/>
                    <a:pt x="2890680" y="5513674"/>
                  </a:cubicBezTo>
                  <a:cubicBezTo>
                    <a:pt x="3877749" y="5518088"/>
                    <a:pt x="4791733" y="4994026"/>
                    <a:pt x="5286547" y="4139928"/>
                  </a:cubicBezTo>
                  <a:cubicBezTo>
                    <a:pt x="5781360" y="3285829"/>
                    <a:pt x="5781360" y="2232259"/>
                    <a:pt x="5286547" y="1378161"/>
                  </a:cubicBezTo>
                  <a:cubicBezTo>
                    <a:pt x="4791733" y="524062"/>
                    <a:pt x="3877749" y="0"/>
                    <a:pt x="2890680" y="4414"/>
                  </a:cubicBezTo>
                  <a:close/>
                </a:path>
              </a:pathLst>
            </a:custGeom>
            <a:blipFill>
              <a:blip r:embed="rId5"/>
              <a:stretch>
                <a:fillRect l="-24712" r="-2471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AutoShape 9"/>
          <p:cNvSpPr/>
          <p:nvPr/>
        </p:nvSpPr>
        <p:spPr>
          <a:xfrm flipV="1">
            <a:off x="447" y="3081151"/>
            <a:ext cx="7924353" cy="16923"/>
          </a:xfrm>
          <a:prstGeom prst="line">
            <a:avLst/>
          </a:prstGeom>
          <a:ln w="66675" cap="rnd">
            <a:solidFill>
              <a:srgbClr val="FFBF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1064810" y="4391595"/>
            <a:ext cx="751905" cy="75190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375953" y="7287744"/>
            <a:ext cx="751905" cy="751905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8A01">
                    <a:alpha val="100000"/>
                  </a:srgbClr>
                </a:gs>
                <a:gs pos="100000">
                  <a:srgbClr val="FFCF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9977657" y="2312794"/>
            <a:ext cx="1105166" cy="325563"/>
          </a:xfrm>
          <a:custGeom>
            <a:avLst/>
            <a:gdLst/>
            <a:ahLst/>
            <a:cxnLst/>
            <a:rect l="l" t="t" r="r" b="b"/>
            <a:pathLst>
              <a:path w="1105166" h="325563">
                <a:moveTo>
                  <a:pt x="0" y="0"/>
                </a:moveTo>
                <a:lnTo>
                  <a:pt x="1105165" y="0"/>
                </a:lnTo>
                <a:lnTo>
                  <a:pt x="1105165" y="325564"/>
                </a:lnTo>
                <a:lnTo>
                  <a:pt x="0" y="3255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028700" y="1883242"/>
            <a:ext cx="8623404" cy="986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03"/>
              </a:lnSpc>
            </a:pPr>
            <a:r>
              <a:rPr lang="en-US" sz="6000" b="1" dirty="0">
                <a:solidFill>
                  <a:srgbClr val="00378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MEDICATION SAFETY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1630" y="3475351"/>
            <a:ext cx="8722480" cy="1668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5"/>
              </a:lnSpc>
            </a:pPr>
            <a:r>
              <a:rPr lang="en-US" sz="3600" dirty="0">
                <a:solidFill>
                  <a:srgbClr val="00000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"Safety Medication: Ensuring Preparedness, Protecting Well-being, and Preventing Health Risks Every Day."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40402" y="6957705"/>
            <a:ext cx="7325962" cy="5092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58"/>
              </a:lnSpc>
            </a:pPr>
            <a:r>
              <a:rPr lang="en-US" sz="2800" dirty="0">
                <a:solidFill>
                  <a:srgbClr val="FFFFFF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Oleh 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34000" y="9197658"/>
            <a:ext cx="8115300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 err="1">
                <a:solidFill>
                  <a:srgbClr val="FFC000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Pasuruan</a:t>
            </a:r>
            <a:r>
              <a:rPr lang="en-US" sz="3200" b="1" dirty="0">
                <a:solidFill>
                  <a:srgbClr val="FFC000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, 18 </a:t>
            </a:r>
            <a:r>
              <a:rPr lang="en-US" sz="3200" b="1" dirty="0" err="1">
                <a:solidFill>
                  <a:srgbClr val="FFC000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Desember</a:t>
            </a:r>
            <a:r>
              <a:rPr lang="en-US" sz="3200" b="1" dirty="0">
                <a:solidFill>
                  <a:srgbClr val="FFC000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 2025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Poppins" panose="00000500000000000000" pitchFamily="2" charset="0"/>
              <a:ea typeface="Montserrat Bold"/>
              <a:cs typeface="Poppins" panose="00000500000000000000" pitchFamily="2" charset="0"/>
              <a:sym typeface="Montserrat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340402" y="7530407"/>
            <a:ext cx="8483593" cy="5092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sz="3200" b="1" dirty="0">
                <a:solidFill>
                  <a:srgbClr val="FFFFFF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dr. Ifit Bagus A., </a:t>
            </a:r>
            <a:r>
              <a:rPr lang="en-US" sz="3200" b="1" dirty="0" err="1">
                <a:solidFill>
                  <a:srgbClr val="FFFFFF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M.MRS</a:t>
            </a:r>
            <a:r>
              <a:rPr lang="en-US" sz="3200" b="1" dirty="0">
                <a:solidFill>
                  <a:srgbClr val="FFFFFF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, </a:t>
            </a:r>
            <a:r>
              <a:rPr lang="en-US" sz="3200" b="1" dirty="0" err="1">
                <a:solidFill>
                  <a:srgbClr val="FFFFFF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CPPD</a:t>
            </a:r>
            <a:r>
              <a:rPr lang="en-US" sz="3200" b="1" dirty="0">
                <a:solidFill>
                  <a:srgbClr val="FFFFFF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, CIM, </a:t>
            </a:r>
            <a:r>
              <a:rPr lang="en-US" sz="3200" b="1" dirty="0" err="1">
                <a:solidFill>
                  <a:srgbClr val="FFFFFF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CSBP</a:t>
            </a:r>
            <a:endParaRPr lang="en-US" sz="3200" b="1" dirty="0">
              <a:solidFill>
                <a:srgbClr val="FFFFFF"/>
              </a:solidFill>
              <a:latin typeface="Poppins" panose="00000500000000000000" pitchFamily="2" charset="0"/>
              <a:ea typeface="Montserrat Bold"/>
              <a:cs typeface="Poppins" panose="00000500000000000000" pitchFamily="2" charset="0"/>
              <a:sym typeface="Montserrat Bold"/>
            </a:endParaRPr>
          </a:p>
        </p:txBody>
      </p:sp>
      <p:pic>
        <p:nvPicPr>
          <p:cNvPr id="22" name="Picture 2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5F24A6B-7C9F-12E6-B06B-54A2CDEFD37E}"/>
              </a:ext>
            </a:extLst>
          </p:cNvPr>
          <p:cNvPicPr preferRelativeResize="0"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28" y="370347"/>
            <a:ext cx="4500000" cy="900000"/>
          </a:xfrm>
          <a:prstGeom prst="rect">
            <a:avLst/>
          </a:prstGeom>
        </p:spPr>
      </p:pic>
      <p:pic>
        <p:nvPicPr>
          <p:cNvPr id="23" name="Picture 22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8AC3FAC2-071E-5EF0-6485-461EFCCCBDE7}"/>
              </a:ext>
            </a:extLst>
          </p:cNvPr>
          <p:cNvPicPr preferRelativeResize="0"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493" y="370347"/>
            <a:ext cx="4500000" cy="900000"/>
          </a:xfrm>
          <a:prstGeom prst="rect">
            <a:avLst/>
          </a:prstGeom>
        </p:spPr>
      </p:pic>
      <p:pic>
        <p:nvPicPr>
          <p:cNvPr id="24" name="Picture 23" descr="A logo with red text&#10;&#10;Description automatically generated">
            <a:extLst>
              <a:ext uri="{FF2B5EF4-FFF2-40B4-BE49-F238E27FC236}">
                <a16:creationId xmlns:a16="http://schemas.microsoft.com/office/drawing/2014/main" id="{64334DAC-01D3-A6AC-4730-B2628E927C33}"/>
              </a:ext>
            </a:extLst>
          </p:cNvPr>
          <p:cNvPicPr preferRelativeResize="0"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089" y="370343"/>
            <a:ext cx="2880000" cy="900000"/>
          </a:xfrm>
          <a:prstGeom prst="rect">
            <a:avLst/>
          </a:prstGeom>
        </p:spPr>
      </p:pic>
      <p:sp>
        <p:nvSpPr>
          <p:cNvPr id="27" name="TextBox 39">
            <a:extLst>
              <a:ext uri="{FF2B5EF4-FFF2-40B4-BE49-F238E27FC236}">
                <a16:creationId xmlns:a16="http://schemas.microsoft.com/office/drawing/2014/main" id="{EDD49E76-7786-2870-A6F4-3B156201EFE5}"/>
              </a:ext>
            </a:extLst>
          </p:cNvPr>
          <p:cNvSpPr txBox="1"/>
          <p:nvPr/>
        </p:nvSpPr>
        <p:spPr>
          <a:xfrm>
            <a:off x="5971336" y="8191500"/>
            <a:ext cx="5186143" cy="485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sz="2898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ifitapriantono@gmail.com</a:t>
            </a:r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86FA53B3-0F55-EF00-9942-2E3FB8795971}"/>
              </a:ext>
            </a:extLst>
          </p:cNvPr>
          <p:cNvSpPr/>
          <p:nvPr/>
        </p:nvSpPr>
        <p:spPr>
          <a:xfrm>
            <a:off x="5334000" y="8206211"/>
            <a:ext cx="495300" cy="498405"/>
          </a:xfrm>
          <a:custGeom>
            <a:avLst/>
            <a:gdLst/>
            <a:ahLst/>
            <a:cxnLst/>
            <a:rect l="l" t="t" r="r" b="b"/>
            <a:pathLst>
              <a:path w="369858" h="369858">
                <a:moveTo>
                  <a:pt x="0" y="0"/>
                </a:moveTo>
                <a:lnTo>
                  <a:pt x="369858" y="0"/>
                </a:lnTo>
                <a:lnTo>
                  <a:pt x="369858" y="369858"/>
                </a:lnTo>
                <a:lnTo>
                  <a:pt x="0" y="3698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VIDEO-2018-11-16-11-14-01.mp4">
            <a:hlinkClick r:id="" action="ppaction://media"/>
            <a:extLst>
              <a:ext uri="{FF2B5EF4-FFF2-40B4-BE49-F238E27FC236}">
                <a16:creationId xmlns:a16="http://schemas.microsoft.com/office/drawing/2014/main" id="{5FEA55A8-819C-4ED9-B266-A4B81083741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2C739EB-3251-0EA8-44D7-4A2D6ABE0549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3" name="Picture 2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9C6B1366-59C8-8CCE-6FCC-5693003EEC98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logo with red text&#10;&#10;Description automatically generated">
            <a:extLst>
              <a:ext uri="{FF2B5EF4-FFF2-40B4-BE49-F238E27FC236}">
                <a16:creationId xmlns:a16="http://schemas.microsoft.com/office/drawing/2014/main" id="{FBB6FF04-524D-E57A-227C-5BCB9A8E8AC5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9209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070585" y="4691301"/>
            <a:ext cx="12808970" cy="7173023"/>
          </a:xfrm>
          <a:custGeom>
            <a:avLst/>
            <a:gdLst/>
            <a:ahLst/>
            <a:cxnLst/>
            <a:rect l="l" t="t" r="r" b="b"/>
            <a:pathLst>
              <a:path w="12808970" h="7173023">
                <a:moveTo>
                  <a:pt x="0" y="0"/>
                </a:moveTo>
                <a:lnTo>
                  <a:pt x="12808970" y="0"/>
                </a:lnTo>
                <a:lnTo>
                  <a:pt x="12808970" y="7173023"/>
                </a:lnTo>
                <a:lnTo>
                  <a:pt x="0" y="7173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-2823905" y="-1935101"/>
            <a:ext cx="13405298" cy="1340529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8A01">
                    <a:alpha val="100000"/>
                  </a:srgbClr>
                </a:gs>
                <a:gs pos="100000">
                  <a:srgbClr val="FFCF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1562000" y="1028700"/>
            <a:ext cx="6002896" cy="5979448"/>
            <a:chOff x="0" y="0"/>
            <a:chExt cx="6502400" cy="6477000"/>
          </a:xfrm>
        </p:grpSpPr>
        <p:sp>
          <p:nvSpPr>
            <p:cNvPr id="8" name="Freeform 8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6"/>
              <a:stretch>
                <a:fillRect l="-24712" r="-247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32886" y="7444170"/>
            <a:ext cx="2311292" cy="2311292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01799" y="9758250"/>
            <a:ext cx="1057501" cy="105750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0581393" y="4391595"/>
            <a:ext cx="5196807" cy="5176507"/>
            <a:chOff x="0" y="0"/>
            <a:chExt cx="6502400" cy="6477000"/>
          </a:xfrm>
        </p:grpSpPr>
        <p:sp>
          <p:nvSpPr>
            <p:cNvPr id="17" name="Freeform 17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7"/>
              <a:stretch>
                <a:fillRect l="-42248" t="-23432" r="-4219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1068612" y="8820737"/>
            <a:ext cx="3323669" cy="3323669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984443" y="-640918"/>
            <a:ext cx="1952061" cy="1952061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486550" y="4660268"/>
            <a:ext cx="1012403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6000" b="1">
                <a:solidFill>
                  <a:srgbClr val="00378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MEDICATION SAFETY</a:t>
            </a:r>
            <a:endParaRPr lang="en-US" sz="6000" b="1" dirty="0">
              <a:solidFill>
                <a:srgbClr val="00378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26" name="Picture 2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E5ACA3A-01E4-E3C9-B8C6-45574942DDD9}"/>
              </a:ext>
            </a:extLst>
          </p:cNvPr>
          <p:cNvPicPr preferRelativeResize="0"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27" name="Picture 26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44052005-F5A8-8123-9097-37D57A29270D}"/>
              </a:ext>
            </a:extLst>
          </p:cNvPr>
          <p:cNvPicPr preferRelativeResize="0"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28" name="Picture 27" descr="A logo with red text&#10;&#10;Description automatically generated">
            <a:extLst>
              <a:ext uri="{FF2B5EF4-FFF2-40B4-BE49-F238E27FC236}">
                <a16:creationId xmlns:a16="http://schemas.microsoft.com/office/drawing/2014/main" id="{DD70F8B5-7DEB-77C6-DAE7-117EDDD672AB}"/>
              </a:ext>
            </a:extLst>
          </p:cNvPr>
          <p:cNvPicPr preferRelativeResize="0"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AAB2F-E2D3-B14F-5294-470AB8D10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F67A588-AAEA-FC1A-8847-9DFB3F174D5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BEBD879-145C-80B3-D393-D393085B789E}"/>
              </a:ext>
            </a:extLst>
          </p:cNvPr>
          <p:cNvSpPr txBox="1"/>
          <p:nvPr/>
        </p:nvSpPr>
        <p:spPr>
          <a:xfrm>
            <a:off x="2999522" y="1587738"/>
            <a:ext cx="12288956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MEDICATION SAFETY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186C9AD-F199-2633-9F57-9D550CAE958E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2D10FEE-F565-E44A-6F36-42F7FFC94DB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BFB89C2-8007-51D3-CF94-980C78BB041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47807BD5-77AA-7A55-FB80-C7AFA5D27F89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4A183F0-5F73-0307-424D-185C6980F45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A7D65108-6ABD-FC21-5A2D-8F6E0F1F14B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F360ACD3-BEB7-9BD7-958F-36C313E2CC31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8CE8BE8-BE02-C01B-AACE-30AA7A81F3D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D8A93E9-806E-B0EF-92B1-06AF4BD0ADA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81FE327-D163-2000-67ED-A24021634DD2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A0AC7403-8C80-4FE6-713F-E27992AACDD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83164EE4-F2BA-CFB9-6F4A-AC47B87A059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09456AA-DD23-7F8F-1016-8A0B87D07763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5DC9BC44-D05C-D6D1-4871-BA4E287D60F9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9E57CA52-BE83-CF0D-8A0D-60082804AA5D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9B8763-023B-85DB-21EB-22378D4CC6BD}"/>
              </a:ext>
            </a:extLst>
          </p:cNvPr>
          <p:cNvSpPr txBox="1"/>
          <p:nvPr/>
        </p:nvSpPr>
        <p:spPr>
          <a:xfrm>
            <a:off x="2792655" y="5296912"/>
            <a:ext cx="1283659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Kesalahan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penggunaan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aman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penyebab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utama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cedera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bahaya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dapat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dihindari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sistem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perawatan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Kesehatan</a:t>
            </a:r>
          </a:p>
          <a:p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Menurut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WHO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Diperkirakan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terjadi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kesalahan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senilai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$42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miliar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USD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setiap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tahun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di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seluruh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dunia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Secara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global,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tingkat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kesalahan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pengobatan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di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rumah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sakit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berkisar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antara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0,3% - 9,1% pada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tahap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resep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dan 1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,6% - 2,1% pada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tahap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pendistribusian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12DC74F-8E1D-C1B8-9B10-7CA66088FDD5}"/>
              </a:ext>
            </a:extLst>
          </p:cNvPr>
          <p:cNvSpPr/>
          <p:nvPr/>
        </p:nvSpPr>
        <p:spPr>
          <a:xfrm>
            <a:off x="2725701" y="3137270"/>
            <a:ext cx="12836598" cy="176093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eamanan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penggunaan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memastikan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bahwa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tenaga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medis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pekerja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kesehatan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dapat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aman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meresepkan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mendistribusikan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dan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memberikan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sesuai</a:t>
            </a:r>
            <a:endParaRPr lang="en-US" sz="2800" b="0" i="0" dirty="0">
              <a:solidFill>
                <a:srgbClr val="0D0D0D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0438D0ED-F3F5-1E22-CCDC-28DFB253828E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01524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CA342-30A3-F280-D592-D6CDFB9F9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7AFD40D-0FDB-DC1C-FB46-93259C11830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3B6C4AE-9A97-6647-BFFE-7C836BEEBDC6}"/>
              </a:ext>
            </a:extLst>
          </p:cNvPr>
          <p:cNvSpPr txBox="1"/>
          <p:nvPr/>
        </p:nvSpPr>
        <p:spPr>
          <a:xfrm>
            <a:off x="2999522" y="1587629"/>
            <a:ext cx="12288956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MEDICATION ERROR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DD3EC28-DA1E-A76B-9996-F48F08F146CC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03737A3-89A8-886E-65BB-EE4CA7B17D5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3B59DBA-D923-37EB-CB09-D21373BAA2A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0D357BF2-5A97-73D0-FB6C-2B81213E036B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BC7CF13-01C6-270D-D4F7-C14C8DB2A59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6A0BF8D8-C877-F1CA-31B3-CDC5003ED61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805E49C-D941-AC90-199D-74F9A193BC0E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87156FF-6FF5-B202-9638-05EFFE4FA5D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241091BD-A106-557B-07CA-2B0A09FC86A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EAD334AF-0B9E-86FE-EAE5-491D05D1B6B2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F29D631E-357B-7F93-C3D2-36ADF2AF82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BB4EBDA-CBD7-97F2-5F28-12A76A930A0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496B653-6C69-F04A-34E3-652CE0F67A7D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9C56CBD4-B929-93D6-7A30-D1B96AD90FAB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A988A1B1-30EB-CD2C-D1A3-CFBEFAD86444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C62EEAB-37DF-4270-9D31-0AAE03AB7A07}"/>
              </a:ext>
            </a:extLst>
          </p:cNvPr>
          <p:cNvSpPr/>
          <p:nvPr/>
        </p:nvSpPr>
        <p:spPr>
          <a:xfrm>
            <a:off x="12049404" y="2850207"/>
            <a:ext cx="4937571" cy="675099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"</a:t>
            </a:r>
            <a:r>
              <a:rPr lang="en-US" sz="28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Kesalahan</a:t>
            </a:r>
            <a:r>
              <a:rPr lang="en-US" sz="28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medikasi</a:t>
            </a:r>
            <a:r>
              <a:rPr lang="en-US" sz="28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US" sz="28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setiap</a:t>
            </a:r>
            <a:r>
              <a:rPr lang="en-US" sz="28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kejadian</a:t>
            </a:r>
            <a:r>
              <a:rPr lang="en-US" sz="28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8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dapat</a:t>
            </a:r>
            <a:r>
              <a:rPr lang="en-US" sz="28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dicegah</a:t>
            </a:r>
            <a:r>
              <a:rPr lang="en-US" sz="28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8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mungkin</a:t>
            </a:r>
            <a:r>
              <a:rPr lang="en-US" sz="28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menyebabkan</a:t>
            </a:r>
            <a:r>
              <a:rPr lang="en-US" sz="28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8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mengakibatkan</a:t>
            </a:r>
            <a:r>
              <a:rPr lang="en-US" sz="28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penggunaan</a:t>
            </a:r>
            <a:r>
              <a:rPr lang="en-US" sz="28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8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8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28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tepat</a:t>
            </a:r>
            <a:r>
              <a:rPr lang="en-US" sz="28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8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membahayakan</a:t>
            </a:r>
            <a:r>
              <a:rPr lang="en-US" sz="28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pasien</a:t>
            </a:r>
            <a:r>
              <a:rPr lang="en-US" sz="28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8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selama</a:t>
            </a:r>
            <a:r>
              <a:rPr lang="en-US" sz="28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8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tersebut</a:t>
            </a:r>
            <a:r>
              <a:rPr lang="en-US" sz="28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berada</a:t>
            </a:r>
            <a:r>
              <a:rPr lang="en-US" sz="28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US" sz="28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kendali</a:t>
            </a:r>
            <a:r>
              <a:rPr lang="en-US" sz="28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tenaga</a:t>
            </a:r>
            <a:r>
              <a:rPr lang="en-US" sz="28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kesehatan</a:t>
            </a:r>
            <a:r>
              <a:rPr lang="en-US" sz="28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8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pasien</a:t>
            </a:r>
            <a:r>
              <a:rPr lang="en-US" sz="28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8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8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konsumen</a:t>
            </a:r>
            <a:r>
              <a:rPr lang="en-US" sz="28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."</a:t>
            </a:r>
            <a:endParaRPr lang="en-US" sz="2800" b="0" i="0" dirty="0">
              <a:solidFill>
                <a:srgbClr val="0D0D0D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9D1EEF49-816F-E5CD-7A78-62FDA268408D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7" name="Picture 6" descr="A collage of newspapers&#10;&#10;Description automatically generated">
            <a:extLst>
              <a:ext uri="{FF2B5EF4-FFF2-40B4-BE49-F238E27FC236}">
                <a16:creationId xmlns:a16="http://schemas.microsoft.com/office/drawing/2014/main" id="{1EE363FC-78FB-DF32-A235-3EE95E874B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7" t="24114" r="2887" b="4975"/>
          <a:stretch/>
        </p:blipFill>
        <p:spPr>
          <a:xfrm>
            <a:off x="1224212" y="2850207"/>
            <a:ext cx="10533893" cy="675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1531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1A27B-A68D-AD45-5D79-63F122C5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04603F1-EAD0-CBCC-F41A-FDE69205B5F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3941884-2321-E804-7B50-432A30663474}"/>
              </a:ext>
            </a:extLst>
          </p:cNvPr>
          <p:cNvSpPr txBox="1"/>
          <p:nvPr/>
        </p:nvSpPr>
        <p:spPr>
          <a:xfrm>
            <a:off x="2999522" y="1587629"/>
            <a:ext cx="12288956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THE MEDICATION USE PROCESS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885E5C1-AFBC-56C8-9A8D-F70228C809B4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38C3E60-237D-E405-CC56-41F6D2F4A8A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469A6CF-9361-51AD-66A8-87B8F0ADA53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B51A362-6481-E54E-B3AF-F0EAD274EFF3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38A3046-B468-5158-D92D-1DF4BFCA34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E6977A0-E505-CD6C-6548-126DC110D43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055D957-3B78-D5B9-19AE-74D9284EB002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CE5C938-914D-C636-A961-7E8874BF58A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B648251C-AC45-036A-C394-0BB6F70A045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99EA2AE-FF3A-6D10-8A27-745BF47411CA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584F3665-E4F8-81B7-217C-AB99DAC856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7FF226B-5E23-8345-F8D1-3F2A7D00932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075B688-5C2F-F55B-EDCD-B0394DE20584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E2B09D7D-FEEA-0422-67FE-5EB899B08773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8BD128FB-E87C-3ADD-DDBC-3A2832AF148F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29" name="TextBox 19">
            <a:extLst>
              <a:ext uri="{FF2B5EF4-FFF2-40B4-BE49-F238E27FC236}">
                <a16:creationId xmlns:a16="http://schemas.microsoft.com/office/drawing/2014/main" id="{A4275FEC-1B2A-389F-99C8-820969CB0FCC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10" name="Picture 9" descr="A medical informational poster with various medical procedures&#10;&#10;Description automatically generated with medium confidence">
            <a:extLst>
              <a:ext uri="{FF2B5EF4-FFF2-40B4-BE49-F238E27FC236}">
                <a16:creationId xmlns:a16="http://schemas.microsoft.com/office/drawing/2014/main" id="{3FC7193C-6EB0-DDD4-F673-8C3D372079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559" y="2551394"/>
            <a:ext cx="11254881" cy="745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720662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C0992-4ADC-6008-BA7E-4A667A2E7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0FBDF1F-E0B5-6DF0-C5A5-11B24D3A4B5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D91955E-AD42-9AED-03F9-0389302C557F}"/>
              </a:ext>
            </a:extLst>
          </p:cNvPr>
          <p:cNvSpPr txBox="1"/>
          <p:nvPr/>
        </p:nvSpPr>
        <p:spPr>
          <a:xfrm>
            <a:off x="2999522" y="1587629"/>
            <a:ext cx="12288956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 err="1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SWISSCHEESE</a:t>
            </a:r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 MODEL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E52C01F-461B-8133-A1BD-B8E0180FDCCD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1ED5CF4-1F96-AF44-DD19-A124764A4C9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85FA32C-D9FD-90DA-2B66-1437D27CCB0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6B8F0972-AE26-3D30-E23C-5488DF991817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DBE3B467-BB24-D972-AC6F-FB9F71F6CDB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89D8A0E6-1A3A-CBDD-2650-BC70196A18F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7955EFC-4719-330A-92E4-CF87CBF969B8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AA9AB99-A44D-CF3B-A06A-AECE1ABE635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BD3285EF-48B0-B2D2-B0BB-3FAF342D9AC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58C045F7-540F-F5E3-B695-E9F94A8B86D4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8A7D9388-111C-7393-1D65-3C375EE5655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2BC6831B-DAA8-D9F4-8F98-C1D5461622B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D7D3FF4-7B40-71FC-F43D-60B94EB58D89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8C9A6D82-5A7D-CC43-3D46-86725292654F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DF2445E3-B8E6-7D07-58D9-5D1E11E1A72F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29" name="TextBox 19">
            <a:extLst>
              <a:ext uri="{FF2B5EF4-FFF2-40B4-BE49-F238E27FC236}">
                <a16:creationId xmlns:a16="http://schemas.microsoft.com/office/drawing/2014/main" id="{229CD377-09AA-250C-D3B1-885BA4875E84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3" name="Picture 22" descr="A diagram of a cheese&#10;&#10;Description automatically generated">
            <a:extLst>
              <a:ext uri="{FF2B5EF4-FFF2-40B4-BE49-F238E27FC236}">
                <a16:creationId xmlns:a16="http://schemas.microsoft.com/office/drawing/2014/main" id="{E3B8D664-0E1B-E8E2-392B-C3B647CD32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154" y="2802734"/>
            <a:ext cx="14095691" cy="711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10707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6C893-15B2-AFD0-29D5-0D3A62EEF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1674CAC-BBAD-C2C8-9CF5-14F2B34CEAEA}"/>
              </a:ext>
            </a:extLst>
          </p:cNvPr>
          <p:cNvSpPr/>
          <p:nvPr/>
        </p:nvSpPr>
        <p:spPr>
          <a:xfrm>
            <a:off x="-19050" y="-72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34AD94E-2010-4066-25A9-238B98F1DB2C}"/>
              </a:ext>
            </a:extLst>
          </p:cNvPr>
          <p:cNvSpPr txBox="1"/>
          <p:nvPr/>
        </p:nvSpPr>
        <p:spPr>
          <a:xfrm>
            <a:off x="2999522" y="1587629"/>
            <a:ext cx="12288956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ADE (ADVERSE DRUG EVENT)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2D16522-A5AD-593E-C1EE-7A86A008A795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CBDF502-0297-C479-AEF2-7DE33AD99C6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0E400BE-FE7F-5EFB-6989-77076CB829E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A59F5FB2-DDA5-EE35-E142-2913CE450D5B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2734761-9B61-EC4F-3BAA-86561575EAD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A9B53FAE-D340-A57B-D41A-C735FD03CF6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0AB9A20C-1217-BBC9-5D9B-6631AA78E2BC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DEFD9C9-6DF0-11D9-6A8F-E555C222B63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B6F893B9-F456-5422-3181-3E5DAD08EF3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9B14461-157A-8B28-FFDE-9BDDFBF4E588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AA31694F-5704-7D06-751F-FC491E236DA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B6C5A531-D811-0CB8-4465-EACA3C5CF09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422E1CDE-7D97-7761-4DB8-7863DF782FE3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568C1C0E-E4FD-BBF3-9094-E077748BA63F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88A0B548-A7CB-63A7-6CC0-BD1327F66DA8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29" name="TextBox 19">
            <a:extLst>
              <a:ext uri="{FF2B5EF4-FFF2-40B4-BE49-F238E27FC236}">
                <a16:creationId xmlns:a16="http://schemas.microsoft.com/office/drawing/2014/main" id="{547D43B0-29BD-D6B1-606E-3BCA91B5C7A4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9CDAB1-1659-B00A-E52D-9B52B0166C81}"/>
              </a:ext>
            </a:extLst>
          </p:cNvPr>
          <p:cNvSpPr txBox="1"/>
          <p:nvPr/>
        </p:nvSpPr>
        <p:spPr>
          <a:xfrm>
            <a:off x="2398596" y="3243907"/>
            <a:ext cx="1349080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Adverse Drug Event (ADE)</a:t>
            </a:r>
          </a:p>
          <a:p>
            <a:pPr marL="723900" indent="-514350">
              <a:buFont typeface="+mj-lt"/>
              <a:buAutoNum type="alphaLcPeriod"/>
            </a:pP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Definisi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Bahaya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kejadian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merugikan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berkaitan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penggunaan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termasuk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kesalahan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penggunaan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endParaRPr lang="en-US" sz="2800" b="0" i="0" dirty="0">
              <a:solidFill>
                <a:srgbClr val="0D0D0D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23900" indent="-514350">
              <a:buFont typeface="+mj-lt"/>
              <a:buAutoNum type="alphaLcPeriod"/>
            </a:pP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Penyebab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Bisa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terjadi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karena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kesalahan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medikasi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(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misalnya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pemberian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dosis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yang salah)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karena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reaksi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terduga</a:t>
            </a:r>
            <a:endParaRPr lang="en-US" sz="2800" b="0" i="0" dirty="0">
              <a:solidFill>
                <a:srgbClr val="0D0D0D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23900" indent="-514350">
              <a:buFont typeface="+mj-lt"/>
              <a:buAutoNum type="alphaLcPeriod"/>
            </a:pP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Cakupan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Mencakup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segala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bentuk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kejadian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buruk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terkait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baik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karena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kesalahan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manusia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(preventable)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maupun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bukan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(non-preventable)</a:t>
            </a:r>
          </a:p>
          <a:p>
            <a:pPr marL="723900" indent="-514350">
              <a:buFont typeface="+mj-lt"/>
              <a:buAutoNum type="alphaLcPeriod"/>
            </a:pP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Contoh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 marL="1428750" indent="-457200">
              <a:buFont typeface="Arial" panose="020B0604020202020204" pitchFamily="34" charset="0"/>
              <a:buChar char="•"/>
            </a:pP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diberikan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dosis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berlebihan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1428750" indent="-457200">
              <a:buFont typeface="Arial" panose="020B0604020202020204" pitchFamily="34" charset="0"/>
              <a:buChar char="•"/>
            </a:pP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yang salah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diberikan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pada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pasien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karena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kesalahan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label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resep</a:t>
            </a:r>
            <a:endParaRPr lang="en-US" sz="2800" b="1" i="0" dirty="0">
              <a:solidFill>
                <a:srgbClr val="0D0D0D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28215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69544-AB2A-AEF7-870A-9751ECED7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BDFA4E5-0D2A-9F20-2635-0D3E221E9CBE}"/>
              </a:ext>
            </a:extLst>
          </p:cNvPr>
          <p:cNvSpPr/>
          <p:nvPr/>
        </p:nvSpPr>
        <p:spPr>
          <a:xfrm>
            <a:off x="-19050" y="-72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2AC0D31-A2D5-9F1D-D08B-0398D65609B2}"/>
              </a:ext>
            </a:extLst>
          </p:cNvPr>
          <p:cNvSpPr txBox="1"/>
          <p:nvPr/>
        </p:nvSpPr>
        <p:spPr>
          <a:xfrm>
            <a:off x="2999522" y="1587629"/>
            <a:ext cx="12288956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ADR (ADVERSE DRUG REACTION)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DDF1C1DB-A304-65FA-ABCF-6A8F345A31A4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96300B6-09BD-5383-3CF4-9C8424C9E9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0EE87CA4-0DDA-B783-6F93-6B5B260AF62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6910BC3F-0DCA-94F2-4977-6243E7670942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5F3DED7-D893-6F57-6993-331ED27B507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22077B7D-79F2-1C37-CD9B-D8A8883A046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E986133D-FD75-34E8-7480-566FFB16FE46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7FD3293-F642-9204-0D18-95981F8453F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3BC4280-2435-A619-08EF-130E97B1D49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BF081230-D322-E058-89C6-B1B35BE44BB8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F19042CE-7E61-4BC9-86D6-E2D8E72AD4C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DFEDE53-8A50-8190-6DCC-5A662CE33BB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A2CC3A0-7B0D-2815-D0CA-F569DE37E270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08E510ED-FB9C-8456-C525-3E5DA5C8D01A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D11AEECE-1EF7-B59E-9FEA-64FFEED356EC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29" name="TextBox 19">
            <a:extLst>
              <a:ext uri="{FF2B5EF4-FFF2-40B4-BE49-F238E27FC236}">
                <a16:creationId xmlns:a16="http://schemas.microsoft.com/office/drawing/2014/main" id="{1288F9E9-4A9C-CCB2-0F8F-4CB032FFADD7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646822-F3E7-B036-2FE9-C60FBA1ECE13}"/>
              </a:ext>
            </a:extLst>
          </p:cNvPr>
          <p:cNvSpPr txBox="1"/>
          <p:nvPr/>
        </p:nvSpPr>
        <p:spPr>
          <a:xfrm>
            <a:off x="2398596" y="3243907"/>
            <a:ext cx="1349080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Adverse Drug Reaction (ADR):</a:t>
            </a:r>
          </a:p>
          <a:p>
            <a:pPr marL="723900" indent="-514350">
              <a:buFont typeface="+mj-lt"/>
              <a:buAutoNum type="alphaLcPeriod"/>
            </a:pP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Definisi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Reaksi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merugikan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terjadi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pada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dosis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digunakan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secara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normal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sesuai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indikasi</a:t>
            </a:r>
            <a:endParaRPr lang="en-US" sz="2800" b="1" i="0" dirty="0">
              <a:solidFill>
                <a:srgbClr val="0D0D0D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23900" indent="-514350">
              <a:buFont typeface="+mj-lt"/>
              <a:buAutoNum type="alphaLcPeriod"/>
            </a:pP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Penyebab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Terjadi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meskipun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diberikan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benar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sesuai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dosis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Biasanya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merupakan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efek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samping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dapat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diprediksi</a:t>
            </a:r>
            <a:endParaRPr lang="en-US" sz="2800" b="0" i="0" dirty="0">
              <a:solidFill>
                <a:srgbClr val="0D0D0D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23900" indent="-514350">
              <a:buFont typeface="+mj-lt"/>
              <a:buAutoNum type="alphaLcPeriod"/>
            </a:pP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Cakupan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Hanya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mencakup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reaksi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buruk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disengaja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terjadi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pada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dosis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benar</a:t>
            </a:r>
            <a:endParaRPr lang="en-US" sz="2800" b="1" i="0" dirty="0">
              <a:solidFill>
                <a:srgbClr val="0D0D0D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23900" indent="-514350">
              <a:buFont typeface="+mj-lt"/>
              <a:buAutoNum type="alphaLcPeriod"/>
            </a:pP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Contoh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 marL="1428750" indent="-514350">
              <a:buFont typeface="Arial" panose="020B0604020202020204" pitchFamily="34" charset="0"/>
              <a:buChar char="•"/>
            </a:pP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Anafilaksis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(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reaksi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alergi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berat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)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setelah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pemberian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penisilin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1428750" indent="-514350">
              <a:buFont typeface="Arial" panose="020B0604020202020204" pitchFamily="34" charset="0"/>
              <a:buChar char="•"/>
            </a:pP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Mual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akibat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kemoterapi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meskipun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diberikan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sesuai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protokol</a:t>
            </a:r>
            <a:endParaRPr lang="en-US" sz="2800" b="1" i="0" dirty="0">
              <a:solidFill>
                <a:srgbClr val="0D0D0D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2CEC8D-908C-20DC-3085-B0C4605362BD}"/>
              </a:ext>
            </a:extLst>
          </p:cNvPr>
          <p:cNvSpPr txBox="1"/>
          <p:nvPr/>
        </p:nvSpPr>
        <p:spPr>
          <a:xfrm>
            <a:off x="2876549" y="8699371"/>
            <a:ext cx="125349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i="1" dirty="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semua</a:t>
            </a:r>
            <a:r>
              <a:rPr lang="en-US" sz="3200" i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ADR </a:t>
            </a:r>
            <a:r>
              <a:rPr lang="en-US" sz="3200" i="1" dirty="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US" sz="3200" i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ADE, </a:t>
            </a:r>
            <a:r>
              <a:rPr lang="en-US" sz="3200" i="1" dirty="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tetapi</a:t>
            </a:r>
            <a:r>
              <a:rPr lang="en-US" sz="3200" i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3200" i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semua</a:t>
            </a:r>
            <a:r>
              <a:rPr lang="en-US" sz="3200" i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ADE </a:t>
            </a:r>
            <a:r>
              <a:rPr lang="en-US" sz="3200" i="1" dirty="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US" sz="3200" i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ADR</a:t>
            </a:r>
          </a:p>
        </p:txBody>
      </p:sp>
    </p:spTree>
    <p:extLst>
      <p:ext uri="{BB962C8B-B14F-4D97-AF65-F5344CB8AC3E}">
        <p14:creationId xmlns:p14="http://schemas.microsoft.com/office/powerpoint/2010/main" val="2367573801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08520-55F2-9EF5-CC0B-7614EAA86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0A5D749-592A-13AA-B159-E62806E87935}"/>
              </a:ext>
            </a:extLst>
          </p:cNvPr>
          <p:cNvSpPr/>
          <p:nvPr/>
        </p:nvSpPr>
        <p:spPr>
          <a:xfrm>
            <a:off x="-1905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09D94BF-2CC9-1139-2E32-129EBDC4A32C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8D68456-E6CD-3554-27F2-3A34280D4E0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0FCA1059-75B5-965C-14A9-255337AEDF4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574F0A6-0574-9DC0-9A46-3C3FC0CDA172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07D657D4-FA99-A00C-87D3-4735B90DCC9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F9CE99B0-2ABE-CD8D-AC02-77909F03117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7EB8E1B-22FA-88AB-14AB-08097F7BAE18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9689C39E-3142-C3F1-D61A-05D39145BE1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845BF2C4-E573-5B7A-2B84-65AE2921746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517BDA4E-4A88-BB7B-266D-BE67CF7C8655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C877103A-F41B-EEF0-BC95-FE4F47D72D1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05CF63C6-CA80-8AEA-4B19-6649BDC2F0B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1AC20FAA-9B33-BD41-140C-8BD3520DAB55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764F42CD-AA15-B547-55E4-087863495982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2F44A4F1-BF7B-B7DF-B64F-C630CE2D697D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29" name="TextBox 19">
            <a:extLst>
              <a:ext uri="{FF2B5EF4-FFF2-40B4-BE49-F238E27FC236}">
                <a16:creationId xmlns:a16="http://schemas.microsoft.com/office/drawing/2014/main" id="{782861BB-194C-7841-B34E-F39D2E244A1E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6" name="Picture 25" descr="A diagram of a drug prescription&#10;&#10;Description automatically generated with medium confidence">
            <a:extLst>
              <a:ext uri="{FF2B5EF4-FFF2-40B4-BE49-F238E27FC236}">
                <a16:creationId xmlns:a16="http://schemas.microsoft.com/office/drawing/2014/main" id="{C1F4386C-DC23-1C77-6056-8F8062413F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871" y="2652645"/>
            <a:ext cx="13442129" cy="7392034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C502D12-63EB-8AA1-2DFB-263FF534A332}"/>
              </a:ext>
            </a:extLst>
          </p:cNvPr>
          <p:cNvSpPr/>
          <p:nvPr/>
        </p:nvSpPr>
        <p:spPr>
          <a:xfrm>
            <a:off x="2178871" y="2652645"/>
            <a:ext cx="2545529" cy="698665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B261DA1-6A65-1BC4-B073-C4520DFD31A9}"/>
              </a:ext>
            </a:extLst>
          </p:cNvPr>
          <p:cNvSpPr/>
          <p:nvPr/>
        </p:nvSpPr>
        <p:spPr>
          <a:xfrm>
            <a:off x="7627170" y="2652645"/>
            <a:ext cx="2545529" cy="698665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5D2ED4D-5D0A-910E-6BCC-C1501734D852}"/>
              </a:ext>
            </a:extLst>
          </p:cNvPr>
          <p:cNvSpPr/>
          <p:nvPr/>
        </p:nvSpPr>
        <p:spPr>
          <a:xfrm>
            <a:off x="10333186" y="2657340"/>
            <a:ext cx="2545529" cy="698665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8">
            <a:extLst>
              <a:ext uri="{FF2B5EF4-FFF2-40B4-BE49-F238E27FC236}">
                <a16:creationId xmlns:a16="http://schemas.microsoft.com/office/drawing/2014/main" id="{05C22D87-5D2E-4F95-DCC7-382C997199D1}"/>
              </a:ext>
            </a:extLst>
          </p:cNvPr>
          <p:cNvSpPr txBox="1"/>
          <p:nvPr/>
        </p:nvSpPr>
        <p:spPr>
          <a:xfrm>
            <a:off x="2999522" y="1587738"/>
            <a:ext cx="12288956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MEDICATION ERROR BY STEP</a:t>
            </a:r>
          </a:p>
        </p:txBody>
      </p:sp>
    </p:spTree>
    <p:extLst>
      <p:ext uri="{BB962C8B-B14F-4D97-AF65-F5344CB8AC3E}">
        <p14:creationId xmlns:p14="http://schemas.microsoft.com/office/powerpoint/2010/main" val="131503378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2C9D2-F6E8-7DAD-49A5-7AB4680C4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3B89415-9AB1-340E-2BB4-2756F4513095}"/>
              </a:ext>
            </a:extLst>
          </p:cNvPr>
          <p:cNvSpPr/>
          <p:nvPr/>
        </p:nvSpPr>
        <p:spPr>
          <a:xfrm>
            <a:off x="-1905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705E40A-D9E1-DF7F-B8F2-890C05643FB9}"/>
              </a:ext>
            </a:extLst>
          </p:cNvPr>
          <p:cNvSpPr txBox="1"/>
          <p:nvPr/>
        </p:nvSpPr>
        <p:spPr>
          <a:xfrm>
            <a:off x="2497504" y="1587738"/>
            <a:ext cx="13292991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 err="1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PRESCIBING</a:t>
            </a:r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 ERRORS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5698281-53BA-D2CD-312D-6C1A46087ECA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D5FF32D-9AAD-D4C3-A863-A1F5FEEE3A5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B555F58-6CD0-4471-A4DF-99D1B4415EC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C923D800-F105-04B6-0825-D47B7E16CFFE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C0D9339-A91D-1205-C1C4-F38BFBE041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E0944A53-A398-96EE-332D-0E3EDF08858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EA3CFED-60A0-CC7D-0F8E-44EB4CF820FD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CE6C9D94-0B2C-E75B-40CD-BCDA6E4A758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2FC70899-0FB0-87B9-0F16-F71CE3E2269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5F535E8-EEE7-E254-521D-95090C176479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CD48966C-6780-4684-4097-A1D66A6118B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FD84E3CA-750A-7AB0-48F7-02AE6D3CB3C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5ACE2B5-9DC0-FE3E-2F3A-A2DBA3EAAC74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D0321997-A9E2-CF7E-EE13-AAF2EEEB571D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7328E183-6837-4032-C96D-6A88B5294269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29" name="TextBox 19">
            <a:extLst>
              <a:ext uri="{FF2B5EF4-FFF2-40B4-BE49-F238E27FC236}">
                <a16:creationId xmlns:a16="http://schemas.microsoft.com/office/drawing/2014/main" id="{A031B139-5264-F736-574E-412F7AF9871E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2F25640A-9B0F-ADB7-314C-94C804B8A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49053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520E6912-54FB-EB02-AE05-F6D659D83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49053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egoe UI Variable Small" pitchFamily="2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2EDCA2-FDAF-4807-1FC8-D35ED67AED9A}"/>
              </a:ext>
            </a:extLst>
          </p:cNvPr>
          <p:cNvSpPr txBox="1"/>
          <p:nvPr/>
        </p:nvSpPr>
        <p:spPr>
          <a:xfrm>
            <a:off x="1162233" y="4235589"/>
            <a:ext cx="1056461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Kesalahan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dapat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mencakup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hal-hal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berikut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Dosis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diberikan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dosis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yang salah (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terlalu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tinggi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terlalu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rendah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Kekuatan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Potensi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sesuai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Rute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pemberian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 Jalur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pemberian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salah,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misalnya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oral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ketika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harusnya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intravena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Jumlah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Kuantitas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diberikan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salah.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Indikasi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Resep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sesuai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kondisi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diagnosis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pasien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Durasi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 Waktu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pemberian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terlalu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pendek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terlalu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panjang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Kecepatan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pemberian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diberikan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terlalu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cepat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terlalu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lambat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kontraindikasi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Meresepkan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seharusnya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boleh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digunakan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pada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pasien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tertentu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karena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kondisi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medisnya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17BE57-DE02-8001-2F46-0EE05438291F}"/>
              </a:ext>
            </a:extLst>
          </p:cNvPr>
          <p:cNvSpPr txBox="1"/>
          <p:nvPr/>
        </p:nvSpPr>
        <p:spPr>
          <a:xfrm>
            <a:off x="2857500" y="2857972"/>
            <a:ext cx="125349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“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Kesalahan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peresepan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pemilihan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tepat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seorang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pasien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”</a:t>
            </a:r>
            <a:endParaRPr lang="en-US" sz="3200" dirty="0"/>
          </a:p>
        </p:txBody>
      </p:sp>
      <p:pic>
        <p:nvPicPr>
          <p:cNvPr id="38" name="Picture 37" descr="14-Medication-safety-and-Prevention-of-Medication-errors-pptx-14-638.jpg">
            <a:extLst>
              <a:ext uri="{FF2B5EF4-FFF2-40B4-BE49-F238E27FC236}">
                <a16:creationId xmlns:a16="http://schemas.microsoft.com/office/drawing/2014/main" id="{37A254E5-DA94-ABDF-58F8-D9B149F3C7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8457" b="13956"/>
          <a:stretch/>
        </p:blipFill>
        <p:spPr>
          <a:xfrm>
            <a:off x="11510534" y="5062340"/>
            <a:ext cx="5671391" cy="287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860720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FA4F9-799F-510E-8602-4932F17D8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90C485C-C104-98C7-ECCD-F58FD9366C5A}"/>
              </a:ext>
            </a:extLst>
          </p:cNvPr>
          <p:cNvSpPr/>
          <p:nvPr/>
        </p:nvSpPr>
        <p:spPr>
          <a:xfrm>
            <a:off x="381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76880728-294A-9262-FC2E-7695EC47A3F6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D0570AB-90F4-D93B-F1FA-FC130C71977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9C6DD80-93AC-FFCD-9FA7-ACB4D59A7B7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D9CD5EAC-02F1-2B4E-B109-4E182C018AFE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A9FFD92-9A77-7B97-7F78-759C4A68F02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18A5870-C571-F49C-9AEC-2CD145C3AC4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EE188187-08A6-1A87-DAE2-A5E488A3911A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76A40DC-C588-3D80-BDB5-69AA74B4D14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B38D468F-9106-91E2-30D5-3F8F3813E2E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7B59E63-54F3-4EDA-F33E-8CFA7CF65ED5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8AE5DE75-9297-2306-2DC9-531CBAFB2E3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BE0620F-D546-7E03-7F27-DA170851DFE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9FD3DFF-B8B4-1264-AB53-9A3719165EB2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5FB5DD57-49DC-5616-F75D-6930F0B106A8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0B13AC9F-2236-F20B-3792-A68964F0AAE4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29" name="TextBox 19">
            <a:extLst>
              <a:ext uri="{FF2B5EF4-FFF2-40B4-BE49-F238E27FC236}">
                <a16:creationId xmlns:a16="http://schemas.microsoft.com/office/drawing/2014/main" id="{672C0E4B-D7B6-E336-9C43-A2F52CF24B4A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F0E18372-A2EE-C014-F334-159C39CD7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49053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56F8640A-CD4F-3ADE-BD0D-E471FDC42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49053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egoe UI Variable Small" pitchFamily="2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5E56B3-1597-3B45-AF01-A1D6A0255947}"/>
              </a:ext>
            </a:extLst>
          </p:cNvPr>
          <p:cNvSpPr txBox="1"/>
          <p:nvPr/>
        </p:nvSpPr>
        <p:spPr>
          <a:xfrm>
            <a:off x="1326609" y="3619500"/>
            <a:ext cx="9036591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Wrong Drug (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yang Salah)</a:t>
            </a:r>
          </a:p>
          <a:p>
            <a:pPr marL="723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Kesalahan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terjadi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karena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salah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dengar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nama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23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Contoh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 Clonidine salah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dengar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menjadi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Klonopin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, Amiodarone salah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dengar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menjadi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Amrinone</a:t>
            </a:r>
          </a:p>
          <a:p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Wrong Dose (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Dosis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yang Salah)</a:t>
            </a:r>
          </a:p>
          <a:p>
            <a:pPr marL="723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Kesalahan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memahami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mendengar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jumlah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dosis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23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Contoh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 Toradol 15 mg salah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dengar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menjadi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50 mg</a:t>
            </a:r>
          </a:p>
          <a:p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Wrong Labs (Hasil Lab yang Salah)</a:t>
            </a:r>
          </a:p>
          <a:p>
            <a:pPr marL="723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Salah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dengar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salah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catat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hasil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laboratorium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menyebabkan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pemberian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terapi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sesuai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23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Contoh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 Gula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darah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pasien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terdengar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257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padahal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sebenarnya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157,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sehingga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pasien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menerima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6 unit insulin (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seharusnya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hanya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2 unit)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4D5F93-397E-0A46-6053-10D94D57213B}"/>
              </a:ext>
            </a:extLst>
          </p:cNvPr>
          <p:cNvSpPr txBox="1"/>
          <p:nvPr/>
        </p:nvSpPr>
        <p:spPr>
          <a:xfrm>
            <a:off x="2857500" y="2857972"/>
            <a:ext cx="125349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“Verbal Orders Error”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BD2C77-E150-26AD-7499-2DADF345DC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3200" y="3685729"/>
            <a:ext cx="6830713" cy="5940088"/>
          </a:xfrm>
          <a:prstGeom prst="rect">
            <a:avLst/>
          </a:prstGeom>
        </p:spPr>
      </p:pic>
      <p:sp>
        <p:nvSpPr>
          <p:cNvPr id="23" name="TextBox 8">
            <a:extLst>
              <a:ext uri="{FF2B5EF4-FFF2-40B4-BE49-F238E27FC236}">
                <a16:creationId xmlns:a16="http://schemas.microsoft.com/office/drawing/2014/main" id="{0016A5E4-A245-E35E-15F1-92AC8A25D092}"/>
              </a:ext>
            </a:extLst>
          </p:cNvPr>
          <p:cNvSpPr txBox="1"/>
          <p:nvPr/>
        </p:nvSpPr>
        <p:spPr>
          <a:xfrm>
            <a:off x="2497504" y="1587738"/>
            <a:ext cx="13292991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 err="1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PRESCIBING</a:t>
            </a:r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 ERRORS</a:t>
            </a:r>
          </a:p>
        </p:txBody>
      </p:sp>
    </p:spTree>
    <p:extLst>
      <p:ext uri="{BB962C8B-B14F-4D97-AF65-F5344CB8AC3E}">
        <p14:creationId xmlns:p14="http://schemas.microsoft.com/office/powerpoint/2010/main" val="13594062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E5E7B-F31B-AACF-7F41-54FE78B3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5AEA202-21BC-25FC-D75C-B246F87CEA72}"/>
              </a:ext>
            </a:extLst>
          </p:cNvPr>
          <p:cNvSpPr/>
          <p:nvPr/>
        </p:nvSpPr>
        <p:spPr>
          <a:xfrm>
            <a:off x="0" y="4006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FA45A29-4873-B74F-E74B-BF6129B79793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D9C9A9F-91F1-CFDD-5FF7-05A10957BA9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20C41B04-F474-9506-24BA-5CF9CF63540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903D987F-EB2E-542D-04F1-3141F72533F7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3B90BA62-871A-C0D9-324D-BEB34E9A531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8D4B392-69CC-35D5-F2E6-CB7A21F353F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AE68EC8-E06A-8FE7-699F-4B76497DF2EC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1CB21F0-FFEB-4A42-97BC-74FB8167717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1F0A3A3F-34F1-9B3A-A737-DEB5909BAB1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DFC62E42-26CE-B9C5-2B5C-883C1FD85631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84F8CAFE-8AB0-CC15-01D6-C0AC873A6F2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5B367564-58BD-776B-429A-FB97CA6FAE0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3CE58CA-0DC8-EB46-F5A8-4D02755490BC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74B1D5E2-230A-0E15-3E28-180457383F04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47BF2AF4-B385-8E7B-3CB0-D580E005DE0E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29" name="TextBox 19">
            <a:extLst>
              <a:ext uri="{FF2B5EF4-FFF2-40B4-BE49-F238E27FC236}">
                <a16:creationId xmlns:a16="http://schemas.microsoft.com/office/drawing/2014/main" id="{A6987496-897A-0EEE-D6BA-308EA8BD09C9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3BB1B8CD-F809-BB9B-FF66-E4BF96BF6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49053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24B6D5C-F531-D369-87FE-1CAAA5193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49053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egoe UI Variable Small" pitchFamily="2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57500B-978E-306A-172B-11290DE8DF56}"/>
              </a:ext>
            </a:extLst>
          </p:cNvPr>
          <p:cNvSpPr txBox="1"/>
          <p:nvPr/>
        </p:nvSpPr>
        <p:spPr>
          <a:xfrm>
            <a:off x="1580476" y="4913719"/>
            <a:ext cx="772961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Kesalahan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umum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terjadi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meliputi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Pemilihan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kekuatan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(strength)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jenis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(drug) yang salah.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2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memiliki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tampilan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mirip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(similar appearance)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Nama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mirip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(look-a-like/sound-a-like errors).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Contoh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Kesalahan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 Dua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nama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bentuk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fisik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hampir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sama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dapat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tertukar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seperti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"Celebrex" dan "Celexa".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7F0A2F-AFA3-3906-14B1-C61FE2955B2C}"/>
              </a:ext>
            </a:extLst>
          </p:cNvPr>
          <p:cNvSpPr txBox="1"/>
          <p:nvPr/>
        </p:nvSpPr>
        <p:spPr>
          <a:xfrm>
            <a:off x="2876549" y="2768895"/>
            <a:ext cx="125349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“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Kesalahan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dapat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terjadi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pada 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tahap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apapun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selama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proses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distribusi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mulai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menerima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resep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di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apotek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hingga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diberikan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kepada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pasien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.”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2" name="Picture 31" descr="A close-up of a box&#10;&#10;Description automatically generated">
            <a:extLst>
              <a:ext uri="{FF2B5EF4-FFF2-40B4-BE49-F238E27FC236}">
                <a16:creationId xmlns:a16="http://schemas.microsoft.com/office/drawing/2014/main" id="{48624543-5F06-8A38-8951-75F89CF7C8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97" b="17339"/>
          <a:stretch/>
        </p:blipFill>
        <p:spPr>
          <a:xfrm>
            <a:off x="9684080" y="4367096"/>
            <a:ext cx="3493614" cy="2694969"/>
          </a:xfrm>
          <a:prstGeom prst="rect">
            <a:avLst/>
          </a:prstGeom>
        </p:spPr>
      </p:pic>
      <p:pic>
        <p:nvPicPr>
          <p:cNvPr id="34" name="Picture 33" descr="Close-up of a few plastic bottles&#10;&#10;Description automatically generated">
            <a:extLst>
              <a:ext uri="{FF2B5EF4-FFF2-40B4-BE49-F238E27FC236}">
                <a16:creationId xmlns:a16="http://schemas.microsoft.com/office/drawing/2014/main" id="{DF078B1D-7DAA-ADE7-66BB-8EA70F236C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2" t="4853" r="6102" b="6081"/>
          <a:stretch/>
        </p:blipFill>
        <p:spPr>
          <a:xfrm>
            <a:off x="13232885" y="4367096"/>
            <a:ext cx="3791247" cy="5695762"/>
          </a:xfrm>
          <a:prstGeom prst="rect">
            <a:avLst/>
          </a:prstGeom>
        </p:spPr>
      </p:pic>
      <p:pic>
        <p:nvPicPr>
          <p:cNvPr id="39" name="Picture 38" descr="A close-up of two boxes&#10;&#10;Description automatically generated">
            <a:extLst>
              <a:ext uri="{FF2B5EF4-FFF2-40B4-BE49-F238E27FC236}">
                <a16:creationId xmlns:a16="http://schemas.microsoft.com/office/drawing/2014/main" id="{079241C6-0D5B-EB22-9BAB-313386CC4E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96" b="22606"/>
          <a:stretch/>
        </p:blipFill>
        <p:spPr>
          <a:xfrm>
            <a:off x="9684080" y="7084572"/>
            <a:ext cx="3498520" cy="2984478"/>
          </a:xfrm>
          <a:prstGeom prst="rect">
            <a:avLst/>
          </a:prstGeom>
        </p:spPr>
      </p:pic>
      <p:sp>
        <p:nvSpPr>
          <p:cNvPr id="44" name="TextBox 8">
            <a:extLst>
              <a:ext uri="{FF2B5EF4-FFF2-40B4-BE49-F238E27FC236}">
                <a16:creationId xmlns:a16="http://schemas.microsoft.com/office/drawing/2014/main" id="{A2CE8F43-F0DB-2EB9-2896-22C00804250C}"/>
              </a:ext>
            </a:extLst>
          </p:cNvPr>
          <p:cNvSpPr txBox="1"/>
          <p:nvPr/>
        </p:nvSpPr>
        <p:spPr>
          <a:xfrm>
            <a:off x="2497504" y="1587738"/>
            <a:ext cx="13292991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DISPENSING ERRORS</a:t>
            </a:r>
          </a:p>
        </p:txBody>
      </p:sp>
    </p:spTree>
    <p:extLst>
      <p:ext uri="{BB962C8B-B14F-4D97-AF65-F5344CB8AC3E}">
        <p14:creationId xmlns:p14="http://schemas.microsoft.com/office/powerpoint/2010/main" val="26842396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F1C93-C32B-AFFD-640E-DFCF9DAE7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15789EA-F33B-40E7-19D2-A0E0EAEFF02F}"/>
              </a:ext>
            </a:extLst>
          </p:cNvPr>
          <p:cNvSpPr/>
          <p:nvPr/>
        </p:nvSpPr>
        <p:spPr>
          <a:xfrm>
            <a:off x="0" y="4006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84FFD36-68A6-2602-ED7C-8158B8D50C3A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F5E8747B-B790-2580-79F6-68C75D5D9A6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61C9170C-CE59-2EB5-E50C-31089E7C5F6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07FFAE9F-A076-1336-5958-0047BB0ED317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066DBEBC-F825-707E-BB41-0095B7DE377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D813C6F-DCE4-3199-9DF4-3D51C43B87D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80CF6EF-3862-2869-2DF2-CAF411724FCB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548454C-77F4-CF40-9BA2-4E66CF1440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877D6F0-66C9-E7DA-1F28-4A53C1C9C8C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CFD8644E-BE42-4B75-201A-E00C1CA44DB6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256A2A7D-3CCA-F85E-9A60-9780A52F00C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6D7DA3A-E78E-4E6A-76D2-F4A339711FC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AE2F269-EA01-D981-FDE0-4F4E3BC713B1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2E756781-22B3-C558-88A9-BC316E7A5011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4B02D58E-5FBF-A10A-E912-419AF441D36F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29" name="TextBox 19">
            <a:extLst>
              <a:ext uri="{FF2B5EF4-FFF2-40B4-BE49-F238E27FC236}">
                <a16:creationId xmlns:a16="http://schemas.microsoft.com/office/drawing/2014/main" id="{9E8B78B4-F2D5-56FE-66A6-BED74265DA2A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889E47F3-8FFC-91B2-D8C7-55ADF1720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49053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D28B0F84-9794-233B-1CE1-659E87D46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49053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egoe UI Variable Small" pitchFamily="2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0525A5-0DD1-34C4-F43D-01328639F1D9}"/>
              </a:ext>
            </a:extLst>
          </p:cNvPr>
          <p:cNvSpPr txBox="1"/>
          <p:nvPr/>
        </p:nvSpPr>
        <p:spPr>
          <a:xfrm>
            <a:off x="1337729" y="4642656"/>
            <a:ext cx="1561254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Adverse Drug Reaction (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Reaksi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Merugikan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Reaksi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merugikan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karena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pemberian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tanpa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pemeriksaan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alergi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riwayat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pasien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723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Penyebab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Perawat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menanyakan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riwayat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alergi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sebelum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pemberian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23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Contoh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Pasien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mengalami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reaksi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alergi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serius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karena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alergi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tercatat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teridentifikasi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sebelumnya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Administration Errors (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Kesalahan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Administrasi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Kesalahan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memberikan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sesuai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resep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dokter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723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Penyebab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Perawat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gagal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memberikan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sesuai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jadwal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telah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ditentukan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23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Contoh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Dosis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seharusnya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diberikan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pada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waktu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tertentu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dilewatkan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diberikan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setelah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jadwal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berikutnya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Wrong Time Error (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Kesalahan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Waktu)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diberikan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di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luar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waktu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telah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dijadwalkan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723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Penyebab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Penundaan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percepatan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pemberian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tanpa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alasan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jelas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23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Contoh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harusnya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diberikan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setiap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6 jam,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malah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diberikan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awal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lambat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jadwal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, yang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dapat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mempengaruhi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efektivitas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terapi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C8B3B0-20D9-EC3B-957F-611E4EC7A197}"/>
              </a:ext>
            </a:extLst>
          </p:cNvPr>
          <p:cNvSpPr txBox="1"/>
          <p:nvPr/>
        </p:nvSpPr>
        <p:spPr>
          <a:xfrm>
            <a:off x="2857500" y="2857972"/>
            <a:ext cx="125349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“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Kesalahan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pemberian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terjadi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ketika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diberikan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kepada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pasien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cara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waktu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dosis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sesuai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resep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dokter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Kesalahan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sering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terjadi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pada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tahap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terakhir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proses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medikasi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melibatkan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perawat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tenaga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medis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lainnya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.”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06AAD9-F8BD-5867-0024-294443FA0052}"/>
              </a:ext>
            </a:extLst>
          </p:cNvPr>
          <p:cNvSpPr txBox="1"/>
          <p:nvPr/>
        </p:nvSpPr>
        <p:spPr>
          <a:xfrm>
            <a:off x="2497504" y="1587738"/>
            <a:ext cx="13292991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ADMINISTERING ERRORS</a:t>
            </a:r>
          </a:p>
        </p:txBody>
      </p:sp>
    </p:spTree>
    <p:extLst>
      <p:ext uri="{BB962C8B-B14F-4D97-AF65-F5344CB8AC3E}">
        <p14:creationId xmlns:p14="http://schemas.microsoft.com/office/powerpoint/2010/main" val="40287286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88D6B-0BE6-A0F3-DDA3-B6D0E9A1E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7EF19CF-06AD-0F42-1E11-9213409B4B1A}"/>
              </a:ext>
            </a:extLst>
          </p:cNvPr>
          <p:cNvSpPr/>
          <p:nvPr/>
        </p:nvSpPr>
        <p:spPr>
          <a:xfrm>
            <a:off x="-1905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B840F0B-B251-856C-19EF-045E98495F45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E8F63BE-E36F-3384-B892-9622DFBA5D7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C724E16-5E3B-3A62-3816-CD629004E59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CA3E7645-5A17-E8EC-5074-6AE14290AA5A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372E23C-7BAA-E8CF-4857-D7B57E199B3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90A176-89F9-6DC5-2EEC-A888A6C4500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3C16615-EEB6-7860-6293-22EF1C92C2B2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2F040D7-90F4-E5D2-9973-25C54A405D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B6D0AA0-076A-FA78-E5B4-A5A52876F43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1274BCCA-61D7-6683-A18F-AD4DF7AF47D7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FCC863FC-D4B7-F98D-8E36-D2776EBFD83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47E8F0D6-CCD1-5ABC-7960-A17352DB687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1FDFA7E-293C-FFFB-ADAC-A6A05FB9E299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318C2F84-4444-36FE-77DB-9DD9BF4B0752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8D3B95DF-9CB8-6518-83E5-D8205602852F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29" name="TextBox 19">
            <a:extLst>
              <a:ext uri="{FF2B5EF4-FFF2-40B4-BE49-F238E27FC236}">
                <a16:creationId xmlns:a16="http://schemas.microsoft.com/office/drawing/2014/main" id="{BB2C8223-1C49-EF33-41BA-EF4D75AF9C2F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10" name="Picture 9" descr="A diagram of a pie chart&#10;&#10;Description automatically generated">
            <a:extLst>
              <a:ext uri="{FF2B5EF4-FFF2-40B4-BE49-F238E27FC236}">
                <a16:creationId xmlns:a16="http://schemas.microsoft.com/office/drawing/2014/main" id="{93CCC8A4-F152-D22E-55E2-C1F285473680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1" t="15833" r="1251" b="4166"/>
          <a:stretch/>
        </p:blipFill>
        <p:spPr>
          <a:xfrm>
            <a:off x="1381064" y="2513903"/>
            <a:ext cx="6120000" cy="6120000"/>
          </a:xfrm>
          <a:prstGeom prst="rect">
            <a:avLst/>
          </a:prstGeom>
        </p:spPr>
      </p:pic>
      <p:sp>
        <p:nvSpPr>
          <p:cNvPr id="23" name="TextBox 8">
            <a:extLst>
              <a:ext uri="{FF2B5EF4-FFF2-40B4-BE49-F238E27FC236}">
                <a16:creationId xmlns:a16="http://schemas.microsoft.com/office/drawing/2014/main" id="{A9AB71FA-5879-6075-8B1F-6F612C84A8A5}"/>
              </a:ext>
            </a:extLst>
          </p:cNvPr>
          <p:cNvSpPr txBox="1"/>
          <p:nvPr/>
        </p:nvSpPr>
        <p:spPr>
          <a:xfrm>
            <a:off x="2497504" y="1587738"/>
            <a:ext cx="13292991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MEDICATION ERROR BY SEVERITY</a:t>
            </a: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AEB6B608-D664-25CB-8F7D-C8C3B14D7769}"/>
              </a:ext>
            </a:extLst>
          </p:cNvPr>
          <p:cNvPicPr preferRelativeResize="0"/>
          <p:nvPr/>
        </p:nvPicPr>
        <p:blipFill>
          <a:blip r:embed="rId7" cstate="print"/>
          <a:stretch>
            <a:fillRect/>
          </a:stretch>
        </p:blipFill>
        <p:spPr>
          <a:xfrm>
            <a:off x="7779116" y="2513903"/>
            <a:ext cx="9360000" cy="7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26410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54EED-FB00-207C-38C9-34B31F05D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29670D-BAE9-BC1D-5E78-C38B0CC0572F}"/>
              </a:ext>
            </a:extLst>
          </p:cNvPr>
          <p:cNvSpPr/>
          <p:nvPr/>
        </p:nvSpPr>
        <p:spPr>
          <a:xfrm>
            <a:off x="-1905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DCA390F-4013-5A82-F3B9-2DC46A971EA7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BB317DB-6426-D46E-5352-FB415C9A949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BACD6BE-3174-BFF7-30C0-6444DF4313F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49C7316-5AB0-FF03-14F7-D34DC21F7264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96A036D-08F0-1704-5313-E6CB7DBA26D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F504DFE0-B29C-7FCA-A5BE-D662EC7CFBC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E874E93B-8EF6-37EA-7945-E40CE3D08CC1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1C5D9AF-E765-800E-081F-A2C3950F733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AF94BB2-041C-1DCE-58BB-2E7E4C2D56A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5471A057-7217-2DD9-AE1E-E6F357468A74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668BE5DF-B944-B800-1B21-B8FD855CE9C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294704C8-9BF9-79DD-0A4D-C832C1DE3D5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40BB1A7-91E4-B4D5-8DFA-0148210613CD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B8E9B72D-9DA8-19BF-9DB2-CC1B9625EF7A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615DF17A-F1F0-BD5B-1E85-16C0F326C74B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29" name="TextBox 19">
            <a:extLst>
              <a:ext uri="{FF2B5EF4-FFF2-40B4-BE49-F238E27FC236}">
                <a16:creationId xmlns:a16="http://schemas.microsoft.com/office/drawing/2014/main" id="{02A79223-0066-1025-AAFE-322FBDBEDDC2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C3B1F5A0-3F5E-759A-FF73-C17A333E4D50}"/>
              </a:ext>
            </a:extLst>
          </p:cNvPr>
          <p:cNvSpPr txBox="1"/>
          <p:nvPr/>
        </p:nvSpPr>
        <p:spPr>
          <a:xfrm>
            <a:off x="2497504" y="1587738"/>
            <a:ext cx="13292991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MEDICATION ERROR CAUSE ANALYSIS</a:t>
            </a:r>
          </a:p>
        </p:txBody>
      </p:sp>
      <p:pic>
        <p:nvPicPr>
          <p:cNvPr id="26" name="Picture 25" descr="A diagram of a flowchart&#10;&#10;Description automatically generated">
            <a:extLst>
              <a:ext uri="{FF2B5EF4-FFF2-40B4-BE49-F238E27FC236}">
                <a16:creationId xmlns:a16="http://schemas.microsoft.com/office/drawing/2014/main" id="{33A3E577-0E54-83B4-3298-B08A1F91CC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488" y="2758779"/>
            <a:ext cx="11897023" cy="743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041186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1A46E-AE9F-3630-CF72-FF9D1A0F6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05EDE53-12A2-F38D-C45C-A924FA093A1C}"/>
              </a:ext>
            </a:extLst>
          </p:cNvPr>
          <p:cNvSpPr/>
          <p:nvPr/>
        </p:nvSpPr>
        <p:spPr>
          <a:xfrm>
            <a:off x="-1905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19D3722-7AE1-2AF6-0EF8-0F0B81279944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1174321-D7ED-59E3-CDC7-658E835895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6B4346A-7FFF-0EB8-948A-BF1DBFC80D6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C941C0E9-81D4-545B-C4D8-BEED3DA5243B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5877D6A-9701-2D7F-EB0B-4BDE77839E0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EE30C916-EF25-1011-1A27-40E4804E1DD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EE55294-9029-D948-8591-101289F17FC9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65C3592-33CE-2FB8-FC2D-4DF6533B542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93F00F8-6446-B964-8ECC-4EB9BA1AA90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87DBF315-174B-351B-A9A1-9FAB7BBFE2B0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EBBCC705-4B61-2426-0915-6124C58024F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F1C65A89-946D-A931-6FA8-1D650A9FABD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1283BB79-5375-CB24-CE83-F404B6CE013F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AD164699-3BB6-3F56-ED72-1E061028893A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89228CAB-736C-3C83-07C8-2D5A20F9B731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29" name="TextBox 19">
            <a:extLst>
              <a:ext uri="{FF2B5EF4-FFF2-40B4-BE49-F238E27FC236}">
                <a16:creationId xmlns:a16="http://schemas.microsoft.com/office/drawing/2014/main" id="{7D579187-D171-A54F-D94B-11728A45E85E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7D0FB84F-9095-791B-40A5-0E1149A556FD}"/>
              </a:ext>
            </a:extLst>
          </p:cNvPr>
          <p:cNvSpPr txBox="1"/>
          <p:nvPr/>
        </p:nvSpPr>
        <p:spPr>
          <a:xfrm>
            <a:off x="2497504" y="1587738"/>
            <a:ext cx="13292991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WHAT SHOULD WE DO?</a:t>
            </a:r>
          </a:p>
        </p:txBody>
      </p:sp>
      <p:pic>
        <p:nvPicPr>
          <p:cNvPr id="7" name="Picture 6" descr="A collage of a nurse and a nurse&#10;&#10;Description automatically generated">
            <a:extLst>
              <a:ext uri="{FF2B5EF4-FFF2-40B4-BE49-F238E27FC236}">
                <a16:creationId xmlns:a16="http://schemas.microsoft.com/office/drawing/2014/main" id="{18E52E82-145F-138F-7F74-16A1DA4A7E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662" y="2858081"/>
            <a:ext cx="12909436" cy="673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55719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24A1-5435-854F-4F56-C2EAD928F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34F40AC-C3D5-346B-4041-1D6255CBA06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FB14778-1E16-619D-3CD6-9AB346E229F1}"/>
              </a:ext>
            </a:extLst>
          </p:cNvPr>
          <p:cNvSpPr/>
          <p:nvPr/>
        </p:nvSpPr>
        <p:spPr>
          <a:xfrm>
            <a:off x="7070585" y="4691301"/>
            <a:ext cx="12808970" cy="7173023"/>
          </a:xfrm>
          <a:custGeom>
            <a:avLst/>
            <a:gdLst/>
            <a:ahLst/>
            <a:cxnLst/>
            <a:rect l="l" t="t" r="r" b="b"/>
            <a:pathLst>
              <a:path w="12808970" h="7173023">
                <a:moveTo>
                  <a:pt x="0" y="0"/>
                </a:moveTo>
                <a:lnTo>
                  <a:pt x="12808970" y="0"/>
                </a:lnTo>
                <a:lnTo>
                  <a:pt x="12808970" y="7173023"/>
                </a:lnTo>
                <a:lnTo>
                  <a:pt x="0" y="7173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13E08F6-2512-91A9-5A51-EA0BEFE0C57E}"/>
              </a:ext>
            </a:extLst>
          </p:cNvPr>
          <p:cNvGrpSpPr/>
          <p:nvPr/>
        </p:nvGrpSpPr>
        <p:grpSpPr>
          <a:xfrm>
            <a:off x="-2823905" y="-1935101"/>
            <a:ext cx="13405298" cy="13405298"/>
            <a:chOff x="0" y="0"/>
            <a:chExt cx="812800" cy="8128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96846BF-90EC-0A6C-606E-C7BF3E9488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8A01">
                    <a:alpha val="100000"/>
                  </a:srgbClr>
                </a:gs>
                <a:gs pos="100000">
                  <a:srgbClr val="FFCF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D1FFA8C-3FA1-4039-C15A-D15BD80BD1B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D782BCCE-2111-D900-F8A3-90FC13F39873}"/>
              </a:ext>
            </a:extLst>
          </p:cNvPr>
          <p:cNvGrpSpPr>
            <a:grpSpLocks noChangeAspect="1"/>
          </p:cNvGrpSpPr>
          <p:nvPr/>
        </p:nvGrpSpPr>
        <p:grpSpPr>
          <a:xfrm>
            <a:off x="11562000" y="1028700"/>
            <a:ext cx="6002896" cy="5979448"/>
            <a:chOff x="0" y="0"/>
            <a:chExt cx="6502400" cy="6477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435E9D0-A96E-35DC-703B-FD7D62AC0C39}"/>
                </a:ext>
              </a:extLst>
            </p:cNvPr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6"/>
              <a:stretch>
                <a:fillRect l="-24712" r="-247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6CB02E1-BDF1-6E34-3E3D-5F7589CB5EB4}"/>
                </a:ext>
              </a:extLst>
            </p:cNvPr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5FFEFEF-3BD3-6ABB-7551-B47F69926E95}"/>
              </a:ext>
            </a:extLst>
          </p:cNvPr>
          <p:cNvGrpSpPr/>
          <p:nvPr/>
        </p:nvGrpSpPr>
        <p:grpSpPr>
          <a:xfrm>
            <a:off x="8132886" y="7444170"/>
            <a:ext cx="2311292" cy="2311292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370C688-D5A5-8E8E-D037-2DA93822CB1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6FB807C-8740-DD1D-DC84-B95BC452A4A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E4D0F0CD-B866-3C43-79A8-DC12CCBCFA62}"/>
              </a:ext>
            </a:extLst>
          </p:cNvPr>
          <p:cNvGrpSpPr/>
          <p:nvPr/>
        </p:nvGrpSpPr>
        <p:grpSpPr>
          <a:xfrm>
            <a:off x="16201799" y="9758250"/>
            <a:ext cx="1057501" cy="1057501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CC8AD29-8F70-DD05-1547-C668743FF21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9CFAE024-FD35-91E6-7407-4D4D745C671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90626F18-FAA8-49E9-D2AC-11F13B097FB5}"/>
              </a:ext>
            </a:extLst>
          </p:cNvPr>
          <p:cNvGrpSpPr>
            <a:grpSpLocks noChangeAspect="1"/>
          </p:cNvGrpSpPr>
          <p:nvPr/>
        </p:nvGrpSpPr>
        <p:grpSpPr>
          <a:xfrm>
            <a:off x="10581393" y="4391595"/>
            <a:ext cx="5196807" cy="5176507"/>
            <a:chOff x="0" y="0"/>
            <a:chExt cx="6502400" cy="647700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82C1479-8F24-63D1-F6B8-15DCC40258C8}"/>
                </a:ext>
              </a:extLst>
            </p:cNvPr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7"/>
              <a:stretch>
                <a:fillRect l="-42248" t="-23432" r="-4219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78F82C6-7B21-1455-2B9E-8E550FEA5836}"/>
                </a:ext>
              </a:extLst>
            </p:cNvPr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B146ACB-E6AC-D317-7400-74DB02E864A8}"/>
              </a:ext>
            </a:extLst>
          </p:cNvPr>
          <p:cNvGrpSpPr/>
          <p:nvPr/>
        </p:nvGrpSpPr>
        <p:grpSpPr>
          <a:xfrm>
            <a:off x="-1068612" y="8820737"/>
            <a:ext cx="3323669" cy="3323669"/>
            <a:chOff x="0" y="0"/>
            <a:chExt cx="812800" cy="812800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38090BF-7453-B609-C2E1-69C17C894B4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CC70B36-8B87-5E93-638E-DB70D65D6E6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E0DC68D-4028-7720-A740-8C0C1EB3F7ED}"/>
              </a:ext>
            </a:extLst>
          </p:cNvPr>
          <p:cNvGrpSpPr/>
          <p:nvPr/>
        </p:nvGrpSpPr>
        <p:grpSpPr>
          <a:xfrm>
            <a:off x="16984443" y="-640918"/>
            <a:ext cx="1952061" cy="1952061"/>
            <a:chOff x="0" y="0"/>
            <a:chExt cx="812800" cy="812800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06F5F8C2-10F6-8597-9924-5AF65FB0400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C3A79F3-2430-55C3-E9F1-39551503883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>
            <a:extLst>
              <a:ext uri="{FF2B5EF4-FFF2-40B4-BE49-F238E27FC236}">
                <a16:creationId xmlns:a16="http://schemas.microsoft.com/office/drawing/2014/main" id="{6B09FDB3-D788-72DD-A552-0C967D852B52}"/>
              </a:ext>
            </a:extLst>
          </p:cNvPr>
          <p:cNvSpPr txBox="1"/>
          <p:nvPr/>
        </p:nvSpPr>
        <p:spPr>
          <a:xfrm>
            <a:off x="486550" y="4660268"/>
            <a:ext cx="10124030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6000" b="1" dirty="0">
                <a:solidFill>
                  <a:srgbClr val="00378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LASA &amp; HIGH ALERT MEDICATION</a:t>
            </a:r>
          </a:p>
        </p:txBody>
      </p:sp>
      <p:pic>
        <p:nvPicPr>
          <p:cNvPr id="26" name="Picture 2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3AD85B6-EDFB-BB21-8254-AA06C7FC8897}"/>
              </a:ext>
            </a:extLst>
          </p:cNvPr>
          <p:cNvPicPr preferRelativeResize="0"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27" name="Picture 26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AB567289-BE24-FE5D-2E7E-7ADFD1F54735}"/>
              </a:ext>
            </a:extLst>
          </p:cNvPr>
          <p:cNvPicPr preferRelativeResize="0"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28" name="Picture 27" descr="A logo with red text&#10;&#10;Description automatically generated">
            <a:extLst>
              <a:ext uri="{FF2B5EF4-FFF2-40B4-BE49-F238E27FC236}">
                <a16:creationId xmlns:a16="http://schemas.microsoft.com/office/drawing/2014/main" id="{51E66C85-3F9A-543D-9F60-E6C1F7C11741}"/>
              </a:ext>
            </a:extLst>
          </p:cNvPr>
          <p:cNvPicPr preferRelativeResize="0"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48727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121CE-538C-E491-CFF2-D8613AF24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7F64DEC-1E69-059F-46F9-0FC4D6C2290F}"/>
              </a:ext>
            </a:extLst>
          </p:cNvPr>
          <p:cNvSpPr/>
          <p:nvPr/>
        </p:nvSpPr>
        <p:spPr>
          <a:xfrm>
            <a:off x="-1905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23BE4BC-B981-B96F-3A79-47B4E4AA48E6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CE14388-D8AB-2CE7-2AF8-5A80DF7F5EC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6BF0672B-CECE-7D0A-D6E5-72BB9DA3905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DC8E7CD-EBF9-A9AD-306A-6C1283369800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1236D1B-AD9B-4E9C-164F-92A4E580700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6C1F2F6-B972-5477-1F7D-3B858C760B4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CA8152D-2936-4FDD-D9B4-41E9DDD4087B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BB0BC8B2-2992-0388-A3C4-AB98967DDF9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A127F11-9209-62B5-3614-647D16A2C07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899FFC98-A686-85AB-9A62-3A7A1ED79609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489EC0C7-895B-83C8-1980-677AC6E719F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B5CDCCC8-B7C5-E119-ACD2-2FDB2D4BE93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976CD67-754B-26A6-DB65-83805265E06D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53C42B22-CA0D-3283-D36B-10BD89E0D70D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9B57E3BB-2B18-AC98-84A4-7B638EEFF325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29" name="TextBox 19">
            <a:extLst>
              <a:ext uri="{FF2B5EF4-FFF2-40B4-BE49-F238E27FC236}">
                <a16:creationId xmlns:a16="http://schemas.microsoft.com/office/drawing/2014/main" id="{C37DFB60-5A29-6ACF-2C6E-D6B583BECC66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2BA95DB1-27D2-8582-8545-B1DDE8C25BB1}"/>
              </a:ext>
            </a:extLst>
          </p:cNvPr>
          <p:cNvSpPr txBox="1"/>
          <p:nvPr/>
        </p:nvSpPr>
        <p:spPr>
          <a:xfrm>
            <a:off x="2497504" y="1587738"/>
            <a:ext cx="13292991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HIGH ALERT MEDICATION</a:t>
            </a:r>
          </a:p>
        </p:txBody>
      </p:sp>
      <p:pic>
        <p:nvPicPr>
          <p:cNvPr id="7" name="object 2">
            <a:extLst>
              <a:ext uri="{FF2B5EF4-FFF2-40B4-BE49-F238E27FC236}">
                <a16:creationId xmlns:a16="http://schemas.microsoft.com/office/drawing/2014/main" id="{F39BE313-F158-BB7B-E5BF-FB967A189B7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74247" y="2883803"/>
            <a:ext cx="13139503" cy="6460199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596757587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23AD-CD32-F37E-8AAC-035D8958A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DB89A09-55CC-EE56-967E-F0A598A2F687}"/>
              </a:ext>
            </a:extLst>
          </p:cNvPr>
          <p:cNvSpPr/>
          <p:nvPr/>
        </p:nvSpPr>
        <p:spPr>
          <a:xfrm>
            <a:off x="-1905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8E30CA1-81C0-7422-F154-E3CC88EE1D58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3044F2C-E201-3AEC-4EA6-F019DD8BAC3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297AD96-B244-B4E6-20F8-C4FC4A2E4C6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6F5DBEB-F131-F65F-21EA-3D102A8D4844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661F9A80-ACC3-6E5A-99EB-7826174857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3E71C5EF-BF09-7CC2-1F1D-93357818B54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2355F9A-8A0D-49EB-48DE-D503923B6B06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6234BA4-35D9-FD7D-67B5-E86D49B9242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72DD0B1C-63A1-7E62-9005-EFB78FB0BAF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0F01972-2305-4535-EA8C-3DA8811C7F18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176979C4-0643-AB79-3328-D3FFDD3B291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05940863-BC27-BC77-3088-96A4D0BCA64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DB6CE56-46BF-724F-1B71-5C2240DD4AD6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460D8C5C-97A9-2B87-1393-E7569C4A84CE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E47EEEF2-C988-2551-BAFD-2C7FED4C6CB9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29" name="TextBox 19">
            <a:extLst>
              <a:ext uri="{FF2B5EF4-FFF2-40B4-BE49-F238E27FC236}">
                <a16:creationId xmlns:a16="http://schemas.microsoft.com/office/drawing/2014/main" id="{10E7B8EB-9BA4-B794-A721-0BD9C43B696D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A0907274-9B48-2413-902C-F41FDDAACB76}"/>
              </a:ext>
            </a:extLst>
          </p:cNvPr>
          <p:cNvSpPr txBox="1"/>
          <p:nvPr/>
        </p:nvSpPr>
        <p:spPr>
          <a:xfrm>
            <a:off x="2497504" y="1587738"/>
            <a:ext cx="13292991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NEWS UPDATE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A44FC2-AEC3-2E01-582E-7518737E3670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564547" y="3336250"/>
            <a:ext cx="7200000" cy="1440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FCB8958-1608-96B8-B427-F388C927F4A8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564547" y="5108713"/>
            <a:ext cx="7200000" cy="4320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08BCC89-D9A2-1BF5-E7D5-175324966062}"/>
              </a:ext>
            </a:extLst>
          </p:cNvPr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9375437" y="3304259"/>
            <a:ext cx="7200000" cy="1800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EBB97D9-4CCC-7A83-D643-9D0ED429E470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9375437" y="5287576"/>
            <a:ext cx="7200000" cy="180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4BC2C2A-5519-9C52-7FE4-E30EB993561E}"/>
              </a:ext>
            </a:extLst>
          </p:cNvPr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9375437" y="7270893"/>
            <a:ext cx="720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035796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22D9B-4B14-6CD6-E8F2-25385BDE2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71CCB3A-4F6A-3D56-281B-9E460D5466D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05363D1-3663-91D5-0561-BBF7F8247F5D}"/>
              </a:ext>
            </a:extLst>
          </p:cNvPr>
          <p:cNvSpPr txBox="1"/>
          <p:nvPr/>
        </p:nvSpPr>
        <p:spPr>
          <a:xfrm>
            <a:off x="2999522" y="1587738"/>
            <a:ext cx="12288956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HIGH ALERT DRUGS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4754111-A90F-CA7F-782C-9DFAC1702854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071E61F-74A8-4474-C948-1DE6A76879A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62F6D978-F154-988E-42EC-CD0815FCADF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E82BDA46-5347-ED14-8C72-F0B57B6A495B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18ABAD0-FAC1-76E2-B863-1AEA4E0A7B4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8FE3310-83F0-7E16-6F30-B69E9C16D72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4E573C6B-A4EC-63CA-D888-5FE60C4CCECB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DBDDE21-6DDF-DB5F-14AF-3905EE327D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4CB1F306-0401-1329-2AC0-DF466501033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A341063D-52EB-43DB-76A9-E30B61977105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42E8EEB2-62EB-1DF9-67AC-3741FC4884A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EC0B157-C634-0CB6-DA9B-33207F1805C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A140E65-DA51-A5BA-A8F2-9537FE133B74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3F775CDA-FF99-A987-32FB-94B9C3099C8B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D3E20D8C-CE58-C1E1-9EAE-B1A058464583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2930515-B624-21F3-4C3D-27FCA54229D9}"/>
              </a:ext>
            </a:extLst>
          </p:cNvPr>
          <p:cNvSpPr/>
          <p:nvPr/>
        </p:nvSpPr>
        <p:spPr>
          <a:xfrm>
            <a:off x="2359079" y="2858085"/>
            <a:ext cx="7922291" cy="667836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Elektrolit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pekat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yaitu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NaCL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&gt;0,9% (3% dan 15%)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KCl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injeksi</a:t>
            </a:r>
            <a:endParaRPr lang="en-US" sz="2400" b="1" dirty="0">
              <a:solidFill>
                <a:srgbClr val="0D0D0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Adrenergic agonis,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yaitu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Epinefrin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Nor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Epinefrin</a:t>
            </a:r>
            <a:endParaRPr lang="en-US" sz="2400" b="1" dirty="0">
              <a:solidFill>
                <a:srgbClr val="0D0D0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Narkotika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injeksi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yaitu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Morfin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Pethidin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Fentanyl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sedatif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injeksi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yaitu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Midazolam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Anestesi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injeksi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yaitu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Propofol,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Ketamin</a:t>
            </a:r>
            <a:endParaRPr lang="en-US" sz="2400" b="1" dirty="0">
              <a:solidFill>
                <a:srgbClr val="0D0D0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Antikoagulan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yaitu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Heparin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Semua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bentuk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sediaan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Insulin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yaitu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insulin rapid-acting, short- acting, intermediate-acting, long-acting dan insulin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campuran</a:t>
            </a:r>
            <a:endParaRPr lang="en-US" sz="2400" dirty="0">
              <a:solidFill>
                <a:srgbClr val="0D0D0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Sediaan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sitostatika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injeksi</a:t>
            </a:r>
            <a:endParaRPr lang="en-US" sz="2400" b="1" dirty="0">
              <a:solidFill>
                <a:srgbClr val="0D0D0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297A886D-C7AA-643D-A8D2-75DD7B8531D1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A33311-6B09-D2C7-E183-AC98DAF11510}"/>
              </a:ext>
            </a:extLst>
          </p:cNvPr>
          <p:cNvSpPr txBox="1"/>
          <p:nvPr/>
        </p:nvSpPr>
        <p:spPr>
          <a:xfrm>
            <a:off x="10556048" y="5453089"/>
            <a:ext cx="64580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SKP</a:t>
            </a:r>
            <a:r>
              <a:rPr lang="en-US" sz="60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6000" dirty="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BERAPA</a:t>
            </a:r>
            <a:r>
              <a:rPr lang="en-US" sz="60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???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8AFAEE-A6AD-7E68-3808-9D75038279EF}"/>
              </a:ext>
            </a:extLst>
          </p:cNvPr>
          <p:cNvSpPr txBox="1"/>
          <p:nvPr/>
        </p:nvSpPr>
        <p:spPr>
          <a:xfrm>
            <a:off x="10638659" y="6206372"/>
            <a:ext cx="6458011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600" b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</a:p>
        </p:txBody>
      </p:sp>
      <p:pic>
        <p:nvPicPr>
          <p:cNvPr id="27" name="Picture 26" descr="A red sign with black text&#10;&#10;Description automatically generated">
            <a:extLst>
              <a:ext uri="{FF2B5EF4-FFF2-40B4-BE49-F238E27FC236}">
                <a16:creationId xmlns:a16="http://schemas.microsoft.com/office/drawing/2014/main" id="{0FB9815B-D567-3019-6E50-7953A5816F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781" y="2019300"/>
            <a:ext cx="4752975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41530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901EC-684F-0319-9A51-1D20DA50E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698715E-FAA7-6D4A-582E-A0528E3D900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DCB4BCB-896F-29D1-9CD3-55CF96C8AD34}"/>
              </a:ext>
            </a:extLst>
          </p:cNvPr>
          <p:cNvSpPr txBox="1"/>
          <p:nvPr/>
        </p:nvSpPr>
        <p:spPr>
          <a:xfrm>
            <a:off x="2999522" y="1587738"/>
            <a:ext cx="12288956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HIGH ALERT = HIGH ATTENTION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727B3E8-FB82-D5FA-F8E7-DE96EB541549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DA318CC-3EF1-4603-E257-C99C02522C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5A9D376-5DA4-9EDD-2DF3-248648A42E4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AC12660D-DA7A-00FA-C8A8-E7F5FAFF57D9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6113F283-83C9-0423-7827-AC15A397F8E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77CAAD8B-6F5A-B075-1EFC-2CEA3803DF1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39574E3-45DA-6985-4132-87FB009AC8A4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307D56D-1B45-5C96-3C75-CE9B97881AC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943818B4-6FA7-AA59-3CD3-6F95B5EAA60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E2929822-E601-2EAB-D6FC-D27F06903EFD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05A67BDD-B8CD-9044-4E9C-EA0AC1718E6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D1DB789E-A240-D912-3254-781BC1F4534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3F1D3A8-740E-C0EA-1FC3-1FF70A957CD2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5E4387F4-606D-EB2F-239F-133F5BE30396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9968EB1E-14B0-384C-6C0B-D384E20CEEF2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29" name="TextBox 19">
            <a:extLst>
              <a:ext uri="{FF2B5EF4-FFF2-40B4-BE49-F238E27FC236}">
                <a16:creationId xmlns:a16="http://schemas.microsoft.com/office/drawing/2014/main" id="{ABB78D9D-64EC-C734-01DA-30338A52868E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329BB9-7B0E-871C-951B-B8102388712E}"/>
              </a:ext>
            </a:extLst>
          </p:cNvPr>
          <p:cNvSpPr/>
          <p:nvPr/>
        </p:nvSpPr>
        <p:spPr>
          <a:xfrm>
            <a:off x="2359079" y="2858085"/>
            <a:ext cx="6784921" cy="723841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+mj-lt"/>
              <a:buAutoNum type="alphaLcPeriod"/>
            </a:pP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Pengembangan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Kebijakan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Prosedur</a:t>
            </a:r>
            <a:endParaRPr lang="en-US" sz="2400" b="1" dirty="0">
              <a:solidFill>
                <a:srgbClr val="0D0D0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23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Identifikasi</a:t>
            </a:r>
            <a:endParaRPr lang="en-US" sz="2400" dirty="0">
              <a:solidFill>
                <a:srgbClr val="0D0D0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23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Penetapan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lokasi</a:t>
            </a:r>
            <a:endParaRPr lang="en-US" sz="2400" dirty="0">
              <a:solidFill>
                <a:srgbClr val="0D0D0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23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Pemberian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label</a:t>
            </a:r>
          </a:p>
          <a:p>
            <a:pPr marL="723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Penyimpanan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elektrolit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konsentrat</a:t>
            </a:r>
            <a:endParaRPr lang="en-US" sz="2400" dirty="0">
              <a:solidFill>
                <a:srgbClr val="0D0D0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+mj-lt"/>
              <a:buAutoNum type="alphaLcPeriod" startAt="2"/>
            </a:pP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Implementasi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Kebijakan</a:t>
            </a:r>
            <a:endParaRPr lang="en-US" sz="2400" b="1" dirty="0">
              <a:solidFill>
                <a:srgbClr val="0D0D0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Kebijakan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prosedur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dikembangkan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harus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diimplementasikan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secara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efektif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3DBD72-F85D-11B6-3EA2-1D2B7FD8EAFD}"/>
              </a:ext>
            </a:extLst>
          </p:cNvPr>
          <p:cNvSpPr/>
          <p:nvPr/>
        </p:nvSpPr>
        <p:spPr>
          <a:xfrm>
            <a:off x="9357183" y="2858084"/>
            <a:ext cx="6571738" cy="723841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+mj-lt"/>
              <a:buAutoNum type="alphaLcPeriod" startAt="3"/>
            </a:pP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Pembatasan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Penyimpanan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Elektrolit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Konsentrat</a:t>
            </a:r>
            <a:endParaRPr lang="en-US" sz="2400" b="1" dirty="0">
              <a:solidFill>
                <a:srgbClr val="0D0D0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23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Elektrolit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konsentrat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boleh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disimpan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di unit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pelayanan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pasien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kecuali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jika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secara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klinis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diperlukan</a:t>
            </a:r>
            <a:endParaRPr lang="en-US" sz="2400" dirty="0">
              <a:solidFill>
                <a:srgbClr val="0D0D0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23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Harus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tindakan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pencegahan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menghindari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pemberian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kurang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hati-hati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sesuai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kebijakan</a:t>
            </a:r>
            <a:endParaRPr lang="en-US" sz="2400" dirty="0">
              <a:solidFill>
                <a:srgbClr val="0D0D0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+mj-lt"/>
              <a:buAutoNum type="alphaLcPeriod" startAt="4"/>
            </a:pP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Pemberian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Label dan Area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Terkontrol</a:t>
            </a:r>
            <a:endParaRPr lang="en-US" sz="2400" b="1" dirty="0">
              <a:solidFill>
                <a:srgbClr val="0D0D0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Elektrolit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konsentrat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di unit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pelayanan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pasien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harus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diberi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label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jelas</a:t>
            </a:r>
            <a:r>
              <a:rPr lang="en-US" sz="2400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disimpan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di area yang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dibatasi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ketat</a:t>
            </a:r>
            <a:r>
              <a:rPr lang="en-US" sz="2400" b="1" dirty="0">
                <a:solidFill>
                  <a:srgbClr val="0D0D0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(restricted area)</a:t>
            </a:r>
          </a:p>
        </p:txBody>
      </p:sp>
    </p:spTree>
    <p:extLst>
      <p:ext uri="{BB962C8B-B14F-4D97-AF65-F5344CB8AC3E}">
        <p14:creationId xmlns:p14="http://schemas.microsoft.com/office/powerpoint/2010/main" val="1380377928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9D098-74BC-8E80-A910-FD4313D42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A54E2C-04EA-DD92-D9B3-C926981F3984}"/>
              </a:ext>
            </a:extLst>
          </p:cNvPr>
          <p:cNvSpPr/>
          <p:nvPr/>
        </p:nvSpPr>
        <p:spPr>
          <a:xfrm>
            <a:off x="-1905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10351E4-279B-2C6D-6F33-3E471B453623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2D63789-9FD7-3DCA-F482-DE2FDD2D747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58CE710-9DD7-30E4-8DF0-2BCABC978AD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F1019F7-FF31-1DD9-97A2-27A5E0091F9D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6310BD6-09A9-24A8-B0B9-6ADD93A9BD0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FB34D24A-E1B7-8184-9286-D042EE01080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FF798FA-E331-A212-8AD6-3A1F3CD0FDFF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70B0AB6-9BDF-7536-F396-3891A74CF46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22B1D2E-3875-E631-D90D-95D06C1147F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88354A68-0B57-3485-E82A-D5D1C7C3BBCE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1E1647B1-06D5-E27F-FB81-5B67107696E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26EF0848-A938-9369-30A0-0FEEFF7A600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164B534D-B6AE-043C-25C2-67A923132934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AD56D5AF-CC54-AF52-0B23-0E67E4CDAF6E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420C3931-007E-CBF4-D5A4-45A0DFA176B8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29" name="TextBox 19">
            <a:extLst>
              <a:ext uri="{FF2B5EF4-FFF2-40B4-BE49-F238E27FC236}">
                <a16:creationId xmlns:a16="http://schemas.microsoft.com/office/drawing/2014/main" id="{EFB5C8E5-5252-C6EB-19D8-8FB4A8F064C8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6F4D3578-74EF-F72E-97A3-63067D3F69D5}"/>
              </a:ext>
            </a:extLst>
          </p:cNvPr>
          <p:cNvSpPr txBox="1"/>
          <p:nvPr/>
        </p:nvSpPr>
        <p:spPr>
          <a:xfrm>
            <a:off x="2497504" y="1587738"/>
            <a:ext cx="13292991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LASA (LOOK ALIKE SOUND ALIKE)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30F8A1-7EE5-EB1A-1D3E-4ED53DC36739}"/>
              </a:ext>
            </a:extLst>
          </p:cNvPr>
          <p:cNvSpPr txBox="1"/>
          <p:nvPr/>
        </p:nvSpPr>
        <p:spPr>
          <a:xfrm>
            <a:off x="2660818" y="2689919"/>
            <a:ext cx="12928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54">
              <a:defRPr/>
            </a:pPr>
            <a:r>
              <a:rPr lang="en-US" sz="3600" b="1" dirty="0">
                <a:latin typeface="Poppins" panose="00000500000000000000" pitchFamily="2" charset="0"/>
                <a:cs typeface="Poppins" panose="00000500000000000000" pitchFamily="2" charset="0"/>
              </a:rPr>
              <a:t>Palese be as cerfaul as pisobsle as you raed tihs! </a:t>
            </a:r>
            <a:endParaRPr lang="en-US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A442243E-D4AC-9566-7ED8-B255B5E644C1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13347" y="3809048"/>
            <a:ext cx="3413893" cy="5693450"/>
          </a:xfrm>
          <a:prstGeom prst="rect">
            <a:avLst/>
          </a:prstGeom>
        </p:spPr>
      </p:pic>
      <p:pic>
        <p:nvPicPr>
          <p:cNvPr id="10" name="Picture 9" descr="A picture containing text, bottle&#10;&#10;Description automatically generated">
            <a:extLst>
              <a:ext uri="{FF2B5EF4-FFF2-40B4-BE49-F238E27FC236}">
                <a16:creationId xmlns:a16="http://schemas.microsoft.com/office/drawing/2014/main" id="{183E1A91-A3FD-4CA5-0A07-6002038E22D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495" y="4367096"/>
            <a:ext cx="3671901" cy="4299832"/>
          </a:xfrm>
          <a:prstGeom prst="rect">
            <a:avLst/>
          </a:prstGeom>
        </p:spPr>
      </p:pic>
      <p:pic>
        <p:nvPicPr>
          <p:cNvPr id="24" name="object 3">
            <a:extLst>
              <a:ext uri="{FF2B5EF4-FFF2-40B4-BE49-F238E27FC236}">
                <a16:creationId xmlns:a16="http://schemas.microsoft.com/office/drawing/2014/main" id="{1F623B65-6D8B-111F-0958-20EB15762041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19651" y="6286500"/>
            <a:ext cx="4266876" cy="2819399"/>
          </a:xfrm>
          <a:prstGeom prst="rect">
            <a:avLst/>
          </a:prstGeom>
        </p:spPr>
      </p:pic>
      <p:pic>
        <p:nvPicPr>
          <p:cNvPr id="25" name="object 3">
            <a:extLst>
              <a:ext uri="{FF2B5EF4-FFF2-40B4-BE49-F238E27FC236}">
                <a16:creationId xmlns:a16="http://schemas.microsoft.com/office/drawing/2014/main" id="{0970BCE9-A5AD-3004-B121-8F3D1D46618E}"/>
              </a:ext>
            </a:extLst>
          </p:cNvPr>
          <p:cNvPicPr/>
          <p:nvPr/>
        </p:nvPicPr>
        <p:blipFill>
          <a:blip r:embed="rId10" cstate="print"/>
          <a:srcRect l="9329" t="17093" r="3919" b="4960"/>
          <a:stretch/>
        </p:blipFill>
        <p:spPr>
          <a:xfrm>
            <a:off x="4919651" y="3607434"/>
            <a:ext cx="4201810" cy="2506469"/>
          </a:xfrm>
          <a:prstGeom prst="rect">
            <a:avLst/>
          </a:prstGeom>
        </p:spPr>
      </p:pic>
      <p:pic>
        <p:nvPicPr>
          <p:cNvPr id="31" name="Picture 30" descr="A white and orange label with black text&#10;&#10;Description automatically generated">
            <a:extLst>
              <a:ext uri="{FF2B5EF4-FFF2-40B4-BE49-F238E27FC236}">
                <a16:creationId xmlns:a16="http://schemas.microsoft.com/office/drawing/2014/main" id="{26C6799A-79A5-4841-9F0D-06B8CD4B876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0" t="31742" r="5999" b="32820"/>
          <a:stretch/>
        </p:blipFill>
        <p:spPr>
          <a:xfrm>
            <a:off x="9308128" y="4457485"/>
            <a:ext cx="4540153" cy="1865641"/>
          </a:xfrm>
          <a:prstGeom prst="rect">
            <a:avLst/>
          </a:prstGeom>
        </p:spPr>
      </p:pic>
      <p:pic>
        <p:nvPicPr>
          <p:cNvPr id="35" name="Picture 34" descr="A red and white package with white text&#10;&#10;Description automatically generated">
            <a:extLst>
              <a:ext uri="{FF2B5EF4-FFF2-40B4-BE49-F238E27FC236}">
                <a16:creationId xmlns:a16="http://schemas.microsoft.com/office/drawing/2014/main" id="{B89CCEB4-F8B3-9C1B-ED55-182AB284285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11" t="11962" r="8404" b="50133"/>
          <a:stretch/>
        </p:blipFill>
        <p:spPr>
          <a:xfrm>
            <a:off x="9308128" y="6351801"/>
            <a:ext cx="4540153" cy="215155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C1FAF54-5354-D790-274D-759906D4535D}"/>
              </a:ext>
            </a:extLst>
          </p:cNvPr>
          <p:cNvSpPr txBox="1"/>
          <p:nvPr/>
        </p:nvSpPr>
        <p:spPr>
          <a:xfrm>
            <a:off x="805360" y="9573628"/>
            <a:ext cx="166772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dirty="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i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LASA (Look Alike Sound Alike) </a:t>
            </a:r>
            <a:r>
              <a:rPr lang="en-US" sz="2400" i="1" dirty="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US" sz="2400" i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i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i="1" dirty="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memiliki</a:t>
            </a:r>
            <a:r>
              <a:rPr lang="en-US" sz="2400" i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nama</a:t>
            </a:r>
            <a:r>
              <a:rPr lang="en-US" sz="2400" i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400" i="1" dirty="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rupa</a:t>
            </a:r>
            <a:r>
              <a:rPr lang="en-US" sz="2400" i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dan </a:t>
            </a:r>
            <a:r>
              <a:rPr lang="en-US" sz="2400" i="1" dirty="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ucapan</a:t>
            </a:r>
            <a:r>
              <a:rPr lang="en-US" sz="2400" i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i="1" dirty="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mirip</a:t>
            </a:r>
            <a:endParaRPr lang="en-US" sz="2400" i="1" dirty="0">
              <a:solidFill>
                <a:srgbClr val="FF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7186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FC202-8F4A-2CC8-A9A8-2F5004C8C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93009C-E366-DC19-60ED-69965104CE11}"/>
              </a:ext>
            </a:extLst>
          </p:cNvPr>
          <p:cNvSpPr/>
          <p:nvPr/>
        </p:nvSpPr>
        <p:spPr>
          <a:xfrm>
            <a:off x="-1905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C4EC6EC-0B50-2774-42A0-1FA7E7AC2755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F23A4BF9-1AAA-2CD4-28BE-9E6A007FA2F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C7069E1-6085-CAA3-9377-1C83794946A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0545C866-81DD-276B-191B-CAEF9B323606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8E2A8D01-5B5C-A1DE-CDEF-EC0A1B83921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20601A8-7EBD-0515-A6A6-62C2D9F6DED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56DA35B-EC13-B020-76B4-46793B2589D8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24AF3C6-E90A-E8FD-420E-071D88C1E07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83506B7C-F47F-0D18-97BD-09D1710DB47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584F20D3-0C22-E2B3-84DB-2DF77B4D6A86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4E6F74AC-F966-30E5-896F-2A130C89EDF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CC1BE5EF-394F-E71C-4750-A00EA0427E3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9D045DA-E393-28DE-E15C-9A7D37CD7138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FA25A9D4-08D8-7F3A-555C-A9EB49010CCD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0E3BE82C-CDA3-E94D-F2F1-73A447FB46C2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29" name="TextBox 19">
            <a:extLst>
              <a:ext uri="{FF2B5EF4-FFF2-40B4-BE49-F238E27FC236}">
                <a16:creationId xmlns:a16="http://schemas.microsoft.com/office/drawing/2014/main" id="{882A0182-11C8-87E6-B5BB-3B38E9150DE9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C265493A-967E-D787-D200-294D84393890}"/>
              </a:ext>
            </a:extLst>
          </p:cNvPr>
          <p:cNvSpPr txBox="1"/>
          <p:nvPr/>
        </p:nvSpPr>
        <p:spPr>
          <a:xfrm>
            <a:off x="2497504" y="1587738"/>
            <a:ext cx="13292991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THE POLICIES, DO IT RIGHT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FA8B08-27EC-CB70-9AF3-F42454A9C850}"/>
              </a:ext>
            </a:extLst>
          </p:cNvPr>
          <p:cNvSpPr txBox="1"/>
          <p:nvPr/>
        </p:nvSpPr>
        <p:spPr>
          <a:xfrm>
            <a:off x="1499975" y="2736126"/>
            <a:ext cx="15249949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PENYIMPANAN</a:t>
            </a:r>
            <a:endParaRPr lang="en-US" sz="2800" b="1" i="0" dirty="0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1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High alert medication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disimpan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di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laci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lemari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di area yang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terkunci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terpisah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produk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lain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Setiap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en-US" sz="2400" b="1" i="1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high alert medication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diberikan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label “</a:t>
            </a:r>
            <a:r>
              <a:rPr lang="en-US" sz="2400" b="1" i="1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High-Alert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”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berwarna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merah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pada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sisi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depan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kemasan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tanpa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menutupi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informasi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ada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pada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kemasan</a:t>
            </a:r>
            <a:endParaRPr lang="en-US" sz="2400" b="0" i="0" dirty="0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Setiap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elektrolit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konsentrat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disimpan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di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farmasi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kecuali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NaHCO3 8.4% di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simpan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juga di ICU/ ICCU, dan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I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GD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MgSO4 ≥ 20%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disimpan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di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farmasi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 </a:t>
            </a:r>
            <a:r>
              <a:rPr lang="en-US" sz="2400" b="1" i="1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emergency kit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 di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UGD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ruang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bersalin</a:t>
            </a:r>
            <a:endParaRPr lang="en-US" sz="2400" b="0" i="0" dirty="0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Narkotika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disimpan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lemari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kokoh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mudah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dipindahkan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memiliki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dua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kunci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berbeda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anestesi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disimpan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di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tempat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hanya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bisa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diakses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oleh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dokter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perawat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staf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farmasi</a:t>
            </a:r>
            <a:endParaRPr lang="en-US" sz="2400" b="1" i="0" dirty="0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sitostatika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Insulin dan heparin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hanya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disimpan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di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farmasi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di area yang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terkunci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di mana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diresepkan</a:t>
            </a:r>
            <a:r>
              <a:rPr lang="en-US" sz="2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Dextrose ≥ 20%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hanya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disimpan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di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Farmasi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I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GD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ICU dan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troli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emergensi</a:t>
            </a:r>
            <a:endParaRPr lang="en-US" sz="2400" b="1" i="0" dirty="0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Penyimpanan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NORUM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dipisahkan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diletakkan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bersebelahan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dan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harus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diberikan</a:t>
            </a:r>
            <a:r>
              <a:rPr lang="en-US" sz="2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label “LASA”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Gunakan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metode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Tall Man lettering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menekankan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perbedaan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pada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nama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mirip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Tall Man lettering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menggunakan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huruf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besar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nama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berbeda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huruf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kecil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nama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mirip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785356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13B78-6A33-E215-8F5D-5102C49B9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70FFAB6-581B-9893-3CDD-CB3F947F6A2D}"/>
              </a:ext>
            </a:extLst>
          </p:cNvPr>
          <p:cNvSpPr/>
          <p:nvPr/>
        </p:nvSpPr>
        <p:spPr>
          <a:xfrm>
            <a:off x="-1905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6F71498F-AC4E-E1EE-A0B0-9B9FE1D55F85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804187A-5C3F-E32B-19C7-50467A56682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A7DF264-A594-1895-3F7A-167643C2F15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4FB8537-877D-5082-8EFF-A2DAC95CD3C3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3F969E40-75FA-6609-883F-8BC22B9002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B9956006-CEE4-D711-40BB-664CA939F36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00783194-7AFB-6B74-2968-84086DB7310B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301D345-E58B-BA0D-24E6-F75C949F375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7BDD576-53C5-292B-2F0A-275ACFD4556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5357B559-AD33-5203-5F28-FAE62276CB31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19E0AA71-DAAE-145A-3032-CEF171E1142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2529F143-AE6A-36C5-1478-2F864D90D9C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1D05F3A7-4B6A-E9CC-8C6C-20FBAD37EE43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9628B141-BAF1-ED6F-574D-0DBCA1D2426A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3B6D9225-D34D-2427-862E-0F2373DDEEA4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29" name="TextBox 19">
            <a:extLst>
              <a:ext uri="{FF2B5EF4-FFF2-40B4-BE49-F238E27FC236}">
                <a16:creationId xmlns:a16="http://schemas.microsoft.com/office/drawing/2014/main" id="{5E4163A6-7B6D-6725-872A-4DF76D75BCB4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B52EED1A-3D75-DE0D-3D7E-8F4EBF939327}"/>
              </a:ext>
            </a:extLst>
          </p:cNvPr>
          <p:cNvSpPr txBox="1"/>
          <p:nvPr/>
        </p:nvSpPr>
        <p:spPr>
          <a:xfrm>
            <a:off x="2497504" y="1587738"/>
            <a:ext cx="13292991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THE POLICIES, DO IT RIGHT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D8831A-AB2E-DD18-7B53-13802F3765CC}"/>
              </a:ext>
            </a:extLst>
          </p:cNvPr>
          <p:cNvSpPr txBox="1"/>
          <p:nvPr/>
        </p:nvSpPr>
        <p:spPr>
          <a:xfrm>
            <a:off x="1499975" y="2736126"/>
            <a:ext cx="15249949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i="0" dirty="0" err="1">
                <a:effectLst/>
                <a:latin typeface="Poppins" panose="00000500000000000000" pitchFamily="2" charset="0"/>
              </a:rPr>
              <a:t>PERESEPAN</a:t>
            </a:r>
            <a:r>
              <a:rPr lang="en-US" sz="28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800" b="1" i="0" dirty="0" err="1">
                <a:effectLst/>
                <a:latin typeface="Poppins" panose="00000500000000000000" pitchFamily="2" charset="0"/>
              </a:rPr>
              <a:t>OBAT</a:t>
            </a:r>
            <a:r>
              <a:rPr lang="en-US" sz="2800" b="1" i="0" dirty="0">
                <a:effectLst/>
                <a:latin typeface="Poppins" panose="00000500000000000000" pitchFamily="2" charset="0"/>
              </a:rPr>
              <a:t> </a:t>
            </a:r>
            <a:r>
              <a:rPr lang="en-US" sz="2800" b="1" i="1" dirty="0">
                <a:effectLst/>
                <a:latin typeface="Poppins" panose="00000500000000000000" pitchFamily="2" charset="0"/>
              </a:rPr>
              <a:t>HIGHT ALERT</a:t>
            </a:r>
            <a:endParaRPr lang="en-US" sz="2800" b="1" i="0" dirty="0">
              <a:effectLst/>
              <a:latin typeface="Poppins" panose="000005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0" dirty="0" err="1">
                <a:effectLst/>
                <a:latin typeface="Poppins" panose="00000500000000000000" pitchFamily="2" charset="0"/>
              </a:rPr>
              <a:t>Membuat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panduan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penetapan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dosis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untuk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antikoagulan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,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narkotik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, insulin, dan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sedasi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sesuai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panduan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praktek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klinik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dan </a:t>
            </a:r>
            <a:r>
              <a:rPr lang="en-US" sz="2400" b="0" i="1" dirty="0">
                <a:effectLst/>
                <a:latin typeface="Poppins" panose="00000500000000000000" pitchFamily="2" charset="0"/>
              </a:rPr>
              <a:t>clinical pathway</a:t>
            </a:r>
            <a:endParaRPr lang="en-US" sz="2400" b="0" i="0" dirty="0">
              <a:effectLst/>
              <a:latin typeface="Poppins" panose="000005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Poppins" panose="00000500000000000000" pitchFamily="2" charset="0"/>
              </a:rPr>
              <a:t>Tulisan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resep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jelas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dan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lengkap</a:t>
            </a:r>
            <a:endParaRPr lang="en-US" sz="2400" b="1" i="0" dirty="0">
              <a:effectLst/>
              <a:latin typeface="Poppins" panose="000005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Poppins" panose="00000500000000000000" pitchFamily="2" charset="0"/>
              </a:rPr>
              <a:t>Berat badan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pasien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harus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ditimbang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untuk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obat-obat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yang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perlu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diresepkan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sesuai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berat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badan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pasien</a:t>
            </a:r>
            <a:endParaRPr lang="en-US" sz="2400" b="0" i="0" dirty="0">
              <a:effectLst/>
              <a:latin typeface="Poppins" panose="00000500000000000000" pitchFamily="2" charset="0"/>
            </a:endParaRPr>
          </a:p>
          <a:p>
            <a:pPr algn="just"/>
            <a:r>
              <a:rPr lang="en-US" sz="2400" b="0" i="0" dirty="0">
                <a:effectLst/>
                <a:latin typeface="Poppins" panose="00000500000000000000" pitchFamily="2" charset="0"/>
              </a:rPr>
              <a:t> </a:t>
            </a:r>
          </a:p>
          <a:p>
            <a:pPr algn="just"/>
            <a:r>
              <a:rPr lang="en-US" sz="2800" b="1" i="0" dirty="0" err="1">
                <a:effectLst/>
                <a:latin typeface="Poppins" panose="00000500000000000000" pitchFamily="2" charset="0"/>
              </a:rPr>
              <a:t>PENYIAPAN</a:t>
            </a:r>
            <a:r>
              <a:rPr lang="en-US" sz="2800" b="1" i="0" dirty="0">
                <a:effectLst/>
                <a:latin typeface="Poppins" panose="00000500000000000000" pitchFamily="2" charset="0"/>
              </a:rPr>
              <a:t> DAN </a:t>
            </a:r>
            <a:r>
              <a:rPr lang="en-US" sz="2800" b="1" i="0" dirty="0" err="1">
                <a:effectLst/>
                <a:latin typeface="Poppins" panose="00000500000000000000" pitchFamily="2" charset="0"/>
              </a:rPr>
              <a:t>DISTRIBUSI</a:t>
            </a:r>
            <a:r>
              <a:rPr lang="en-US" sz="28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800" b="1" i="0" dirty="0" err="1">
                <a:effectLst/>
                <a:latin typeface="Poppins" panose="00000500000000000000" pitchFamily="2" charset="0"/>
              </a:rPr>
              <a:t>OBAT</a:t>
            </a:r>
            <a:r>
              <a:rPr lang="en-US" sz="2800" b="1" i="0" dirty="0">
                <a:effectLst/>
                <a:latin typeface="Poppins" panose="00000500000000000000" pitchFamily="2" charset="0"/>
              </a:rPr>
              <a:t> </a:t>
            </a:r>
            <a:r>
              <a:rPr lang="en-US" sz="2800" b="1" i="1" dirty="0">
                <a:effectLst/>
                <a:latin typeface="Poppins" panose="00000500000000000000" pitchFamily="2" charset="0"/>
              </a:rPr>
              <a:t>HIGHT ALERT</a:t>
            </a:r>
            <a:endParaRPr lang="en-US" sz="2800" b="1" i="0" dirty="0">
              <a:effectLst/>
              <a:latin typeface="Poppins" panose="000005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1" dirty="0">
                <a:effectLst/>
                <a:latin typeface="Poppins" panose="00000500000000000000" pitchFamily="2" charset="0"/>
              </a:rPr>
              <a:t>Independent double check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 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dilakukan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oleh dua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staf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yang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berbeda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pada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tahap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penyiapan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dan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distribusi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obat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kemudian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didokumentasikan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dengan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pemberian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paraf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di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lembar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pemesanan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obat</a:t>
            </a:r>
            <a:endParaRPr lang="en-US" sz="2400" b="0" i="0" dirty="0">
              <a:effectLst/>
              <a:latin typeface="Poppins" panose="000005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0" dirty="0" err="1">
                <a:effectLst/>
                <a:latin typeface="Poppins" panose="00000500000000000000" pitchFamily="2" charset="0"/>
              </a:rPr>
              <a:t>Setiap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elektrolit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konsentrat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harus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diencerkan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sebelum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diserahkan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atau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diberikan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kepada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staf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atau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pasien</a:t>
            </a:r>
            <a:endParaRPr lang="en-US" sz="2400" b="1" i="0" dirty="0">
              <a:effectLst/>
              <a:latin typeface="Poppins" panose="000005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0" dirty="0" err="1">
                <a:effectLst/>
                <a:latin typeface="Poppins" panose="00000500000000000000" pitchFamily="2" charset="0"/>
              </a:rPr>
              <a:t>Pengenceran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dilakukan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oleh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staf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farmasi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yang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terlatih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kecuali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dalam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kondisi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operasi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bedah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jantung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,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pengenceran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KCl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7.46%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dapat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dilakukan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langsung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oleh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perawat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/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dokter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0" dirty="0" err="1">
                <a:effectLst/>
                <a:latin typeface="Poppins" panose="00000500000000000000" pitchFamily="2" charset="0"/>
              </a:rPr>
              <a:t>Setiap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elektrolit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konsentrat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yang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telah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diencerkan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,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diberikan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label “</a:t>
            </a:r>
            <a:r>
              <a:rPr lang="en-US" sz="2400" b="1" i="1" dirty="0">
                <a:effectLst/>
                <a:latin typeface="Poppins" panose="00000500000000000000" pitchFamily="2" charset="0"/>
              </a:rPr>
              <a:t>drug added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” yang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terisi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lengkap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dan label “</a:t>
            </a:r>
            <a:r>
              <a:rPr lang="en-US" sz="2400" b="1" i="1" dirty="0">
                <a:effectLst/>
                <a:latin typeface="Poppins" panose="00000500000000000000" pitchFamily="2" charset="0"/>
              </a:rPr>
              <a:t>high alert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”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tanpa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menutupi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nama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obat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,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tanggal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kadaluarsa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dan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nomor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batch </a:t>
            </a:r>
          </a:p>
        </p:txBody>
      </p:sp>
    </p:spTree>
    <p:extLst>
      <p:ext uri="{BB962C8B-B14F-4D97-AF65-F5344CB8AC3E}">
        <p14:creationId xmlns:p14="http://schemas.microsoft.com/office/powerpoint/2010/main" val="397103837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B6E58-E424-68D0-1291-4B77C29CE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06978FB-26D9-7B93-F56A-7B48D19096AF}"/>
              </a:ext>
            </a:extLst>
          </p:cNvPr>
          <p:cNvSpPr/>
          <p:nvPr/>
        </p:nvSpPr>
        <p:spPr>
          <a:xfrm>
            <a:off x="-1905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DBD9287A-04E1-83FC-EA7B-366FDC4B4D1A}"/>
              </a:ext>
            </a:extLst>
          </p:cNvPr>
          <p:cNvGrpSpPr/>
          <p:nvPr/>
        </p:nvGrpSpPr>
        <p:grpSpPr>
          <a:xfrm>
            <a:off x="-3352800" y="2217180"/>
            <a:ext cx="4299832" cy="4299832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B284AB9-EBEE-D3BC-CDDB-75F734CD8EE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B2DC07E-E9C0-6235-EEF4-16ED22CDBA4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170E72E-3AE3-0CDB-D923-AB8EB07D53FE}"/>
              </a:ext>
            </a:extLst>
          </p:cNvPr>
          <p:cNvGrpSpPr/>
          <p:nvPr/>
        </p:nvGrpSpPr>
        <p:grpSpPr>
          <a:xfrm>
            <a:off x="-3352800" y="4606634"/>
            <a:ext cx="4299832" cy="429983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577FDA7-35C0-21FE-EEC1-0C32068B583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C5057EE8-C5A5-681D-98B1-668A6D859F7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0ADD492B-91AB-0639-B2C1-359B8D14E5E8}"/>
              </a:ext>
            </a:extLst>
          </p:cNvPr>
          <p:cNvGrpSpPr/>
          <p:nvPr/>
        </p:nvGrpSpPr>
        <p:grpSpPr>
          <a:xfrm>
            <a:off x="17417168" y="2217180"/>
            <a:ext cx="4299832" cy="429983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FAABBFC-F8A9-59F9-3AE5-F9706701F2D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AC03956-0CB7-BA0D-EA8B-F3A02371682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767E7C37-70DA-28DF-46A0-78DD089F71B0}"/>
              </a:ext>
            </a:extLst>
          </p:cNvPr>
          <p:cNvGrpSpPr/>
          <p:nvPr/>
        </p:nvGrpSpPr>
        <p:grpSpPr>
          <a:xfrm>
            <a:off x="17417168" y="4606634"/>
            <a:ext cx="4299832" cy="4299832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5CB12D4-9C04-F38D-19F9-9CE64B7F8C1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5E972F8B-8C95-BDA4-91DF-BCF1A995B3A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DD0C819-42F9-7FF5-8BC3-C90B21ABFFE7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4" name="Picture 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FD1E845A-B579-30B9-50DA-849284713814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5C3280E6-851F-FBC6-C0EA-950F35EFA0C6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  <p:sp>
        <p:nvSpPr>
          <p:cNvPr id="29" name="TextBox 19">
            <a:extLst>
              <a:ext uri="{FF2B5EF4-FFF2-40B4-BE49-F238E27FC236}">
                <a16:creationId xmlns:a16="http://schemas.microsoft.com/office/drawing/2014/main" id="{D2EF22FA-B648-9C3A-77DA-2A403D9AF37A}"/>
              </a:ext>
            </a:extLst>
          </p:cNvPr>
          <p:cNvSpPr txBox="1"/>
          <p:nvPr/>
        </p:nvSpPr>
        <p:spPr>
          <a:xfrm>
            <a:off x="13710371" y="3336250"/>
            <a:ext cx="3493614" cy="36951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E3EEE0DF-BD0E-862A-F85A-69DC57649FC3}"/>
              </a:ext>
            </a:extLst>
          </p:cNvPr>
          <p:cNvSpPr txBox="1"/>
          <p:nvPr/>
        </p:nvSpPr>
        <p:spPr>
          <a:xfrm>
            <a:off x="2497504" y="1587738"/>
            <a:ext cx="13292991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357B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THE POLICIES, DO IT RIGHT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FBBCA5-ECCD-D98B-642C-9888179A5E40}"/>
              </a:ext>
            </a:extLst>
          </p:cNvPr>
          <p:cNvSpPr txBox="1"/>
          <p:nvPr/>
        </p:nvSpPr>
        <p:spPr>
          <a:xfrm>
            <a:off x="1499975" y="2736126"/>
            <a:ext cx="15249949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i="0" dirty="0" err="1">
                <a:effectLst/>
                <a:latin typeface="Poppins" panose="00000500000000000000" pitchFamily="2" charset="0"/>
              </a:rPr>
              <a:t>PEMBERIAN</a:t>
            </a:r>
            <a:r>
              <a:rPr lang="en-US" sz="2800" b="1" i="0" dirty="0">
                <a:effectLst/>
                <a:latin typeface="Poppins" panose="00000500000000000000" pitchFamily="2" charset="0"/>
              </a:rPr>
              <a:t> </a:t>
            </a:r>
            <a:r>
              <a:rPr lang="en-US" sz="2800" b="1" i="0" dirty="0" err="1">
                <a:effectLst/>
                <a:latin typeface="Poppins" panose="00000500000000000000" pitchFamily="2" charset="0"/>
              </a:rPr>
              <a:t>OBAT</a:t>
            </a:r>
            <a:r>
              <a:rPr lang="en-US" sz="2800" b="1" i="0" dirty="0">
                <a:effectLst/>
                <a:latin typeface="Poppins" panose="00000500000000000000" pitchFamily="2" charset="0"/>
              </a:rPr>
              <a:t> </a:t>
            </a:r>
            <a:r>
              <a:rPr lang="en-US" sz="2800" b="1" i="1" dirty="0">
                <a:effectLst/>
                <a:latin typeface="Poppins" panose="00000500000000000000" pitchFamily="2" charset="0"/>
              </a:rPr>
              <a:t>HIGH ALERT</a:t>
            </a:r>
            <a:endParaRPr lang="en-US" sz="2800" b="1" i="0" dirty="0">
              <a:effectLst/>
              <a:latin typeface="Poppins" panose="000005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0" dirty="0" err="1">
                <a:effectLst/>
                <a:latin typeface="Poppins" panose="00000500000000000000" pitchFamily="2" charset="0"/>
              </a:rPr>
              <a:t>Lakukan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 </a:t>
            </a:r>
            <a:r>
              <a:rPr lang="en-US" sz="2400" b="1" i="1" dirty="0">
                <a:effectLst/>
                <a:latin typeface="Poppins" panose="00000500000000000000" pitchFamily="2" charset="0"/>
              </a:rPr>
              <a:t>independent double check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 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sebelum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pemberian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obat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dengan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melakukan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5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benar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pemberian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</a:rPr>
              <a:t> : </a:t>
            </a:r>
            <a:r>
              <a:rPr lang="en-US" sz="2400" dirty="0" err="1">
                <a:latin typeface="Poppins" panose="00000500000000000000" pitchFamily="2" charset="0"/>
              </a:rPr>
              <a:t>Identitas</a:t>
            </a:r>
            <a:r>
              <a:rPr lang="en-US" sz="2400" dirty="0">
                <a:latin typeface="Poppins" panose="00000500000000000000" pitchFamily="2" charset="0"/>
              </a:rPr>
              <a:t> </a:t>
            </a:r>
            <a:r>
              <a:rPr lang="en-US" sz="2400" dirty="0" err="1">
                <a:latin typeface="Poppins" panose="00000500000000000000" pitchFamily="2" charset="0"/>
              </a:rPr>
              <a:t>pasien</a:t>
            </a:r>
            <a:r>
              <a:rPr lang="en-US" sz="2400" dirty="0">
                <a:latin typeface="Poppins" panose="00000500000000000000" pitchFamily="2" charset="0"/>
              </a:rPr>
              <a:t>, Nama </a:t>
            </a:r>
            <a:r>
              <a:rPr lang="en-US" sz="2400" dirty="0" err="1">
                <a:latin typeface="Poppins" panose="00000500000000000000" pitchFamily="2" charset="0"/>
              </a:rPr>
              <a:t>obat</a:t>
            </a:r>
            <a:r>
              <a:rPr lang="en-US" sz="2400" dirty="0">
                <a:latin typeface="Poppins" panose="00000500000000000000" pitchFamily="2" charset="0"/>
              </a:rPr>
              <a:t>. </a:t>
            </a:r>
            <a:r>
              <a:rPr lang="en-US" sz="2400" dirty="0" err="1">
                <a:latin typeface="Poppins" panose="00000500000000000000" pitchFamily="2" charset="0"/>
              </a:rPr>
              <a:t>Dosis</a:t>
            </a:r>
            <a:r>
              <a:rPr lang="en-US" sz="2400" dirty="0">
                <a:latin typeface="Poppins" panose="00000500000000000000" pitchFamily="2" charset="0"/>
              </a:rPr>
              <a:t>, Rute </a:t>
            </a:r>
            <a:r>
              <a:rPr lang="en-US" sz="2400" dirty="0" err="1">
                <a:latin typeface="Poppins" panose="00000500000000000000" pitchFamily="2" charset="0"/>
              </a:rPr>
              <a:t>pemberian</a:t>
            </a:r>
            <a:r>
              <a:rPr lang="en-US" sz="2400" dirty="0">
                <a:latin typeface="Poppins" panose="00000500000000000000" pitchFamily="2" charset="0"/>
              </a:rPr>
              <a:t>, Waktu </a:t>
            </a:r>
            <a:r>
              <a:rPr lang="en-US" sz="2400" dirty="0" err="1">
                <a:latin typeface="Poppins" panose="00000500000000000000" pitchFamily="2" charset="0"/>
              </a:rPr>
              <a:t>pemberian</a:t>
            </a:r>
            <a:r>
              <a:rPr lang="en-US" sz="2400" dirty="0">
                <a:latin typeface="Poppins" panose="00000500000000000000" pitchFamily="2" charset="0"/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0" dirty="0" err="1">
                <a:effectLst/>
                <a:latin typeface="Poppins" panose="00000500000000000000" pitchFamily="2" charset="0"/>
              </a:rPr>
              <a:t>Berikan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edukasi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kepada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pasien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untuk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penggunaan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insulin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sendiri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oleh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pasien</a:t>
            </a:r>
            <a:endParaRPr lang="en-US" sz="2400" b="1" i="0" dirty="0">
              <a:effectLst/>
              <a:latin typeface="Poppins" panose="000005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0" dirty="0" err="1">
                <a:effectLst/>
                <a:latin typeface="Poppins" panose="00000500000000000000" pitchFamily="2" charset="0"/>
              </a:rPr>
              <a:t>Staf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farmasi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memberikan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penjelasan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dan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konseling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 </a:t>
            </a:r>
            <a:r>
              <a:rPr lang="en-US" sz="2400" b="1" i="1" dirty="0">
                <a:effectLst/>
                <a:latin typeface="Poppins" panose="00000500000000000000" pitchFamily="2" charset="0"/>
              </a:rPr>
              <a:t>high-alert medication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 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kepada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pasien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/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perwakilan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pasien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di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rawat</a:t>
            </a:r>
            <a:r>
              <a:rPr lang="en-US" sz="2400" b="1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Poppins" panose="00000500000000000000" pitchFamily="2" charset="0"/>
              </a:rPr>
              <a:t>jalan</a:t>
            </a:r>
            <a:r>
              <a:rPr lang="en-US" sz="2400" dirty="0">
                <a:latin typeface="Poppins" panose="00000500000000000000" pitchFamily="2" charset="0"/>
              </a:rPr>
              <a:t> (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Brosur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informasi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obat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dapat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digunakan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untuk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meningkatkan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pemahaman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dan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pengertian</a:t>
            </a:r>
            <a:r>
              <a:rPr lang="en-US" sz="2400" b="0" i="0" dirty="0">
                <a:effectLst/>
                <a:latin typeface="Poppins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Poppins" panose="00000500000000000000" pitchFamily="2" charset="0"/>
              </a:rPr>
              <a:t>pasien</a:t>
            </a:r>
            <a:r>
              <a:rPr lang="en-US" sz="2400" dirty="0">
                <a:latin typeface="Poppins" panose="00000500000000000000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40282703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333" b="-93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1479504"/>
            <a:ext cx="18086416" cy="7761612"/>
            <a:chOff x="0" y="0"/>
            <a:chExt cx="4763500" cy="20442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63500" cy="2044210"/>
            </a:xfrm>
            <a:custGeom>
              <a:avLst/>
              <a:gdLst/>
              <a:ahLst/>
              <a:cxnLst/>
              <a:rect l="l" t="t" r="r" b="b"/>
              <a:pathLst>
                <a:path w="4763500" h="2044210">
                  <a:moveTo>
                    <a:pt x="0" y="0"/>
                  </a:moveTo>
                  <a:lnTo>
                    <a:pt x="4763500" y="0"/>
                  </a:lnTo>
                  <a:lnTo>
                    <a:pt x="4763500" y="2044210"/>
                  </a:lnTo>
                  <a:lnTo>
                    <a:pt x="0" y="2044210"/>
                  </a:ln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763500" cy="2082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899492" y="735983"/>
            <a:ext cx="9301053" cy="9301053"/>
            <a:chOff x="0" y="0"/>
            <a:chExt cx="12401404" cy="12401404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2401404" cy="12401404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3780">
                      <a:alpha val="100000"/>
                    </a:srgbClr>
                  </a:gs>
                  <a:gs pos="100000">
                    <a:srgbClr val="011F47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846489" y="846489"/>
              <a:ext cx="10708426" cy="10708426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156812" y="-5088"/>
                <a:ext cx="6663624" cy="6360176"/>
              </a:xfrm>
              <a:custGeom>
                <a:avLst/>
                <a:gdLst/>
                <a:ahLst/>
                <a:cxnLst/>
                <a:rect l="l" t="t" r="r" b="b"/>
                <a:pathLst>
                  <a:path w="6663624" h="6360176">
                    <a:moveTo>
                      <a:pt x="3331812" y="5088"/>
                    </a:moveTo>
                    <a:lnTo>
                      <a:pt x="3331812" y="5088"/>
                    </a:lnTo>
                    <a:cubicBezTo>
                      <a:pt x="2194111" y="0"/>
                      <a:pt x="1140649" y="604036"/>
                      <a:pt x="570324" y="1588475"/>
                    </a:cubicBezTo>
                    <a:cubicBezTo>
                      <a:pt x="0" y="2572913"/>
                      <a:pt x="0" y="3787263"/>
                      <a:pt x="570324" y="4771701"/>
                    </a:cubicBezTo>
                    <a:cubicBezTo>
                      <a:pt x="1140649" y="5756140"/>
                      <a:pt x="2194111" y="6360176"/>
                      <a:pt x="3331812" y="6355088"/>
                    </a:cubicBezTo>
                    <a:cubicBezTo>
                      <a:pt x="4469513" y="6360176"/>
                      <a:pt x="5522976" y="5756140"/>
                      <a:pt x="6093300" y="4771701"/>
                    </a:cubicBezTo>
                    <a:cubicBezTo>
                      <a:pt x="6663624" y="3787263"/>
                      <a:pt x="6663624" y="2572913"/>
                      <a:pt x="6093300" y="1588475"/>
                    </a:cubicBezTo>
                    <a:cubicBezTo>
                      <a:pt x="5522976" y="604036"/>
                      <a:pt x="4469513" y="0"/>
                      <a:pt x="3331812" y="508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CF01">
                      <a:alpha val="100000"/>
                    </a:srgbClr>
                  </a:gs>
                  <a:gs pos="100000">
                    <a:srgbClr val="FF8A01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284320" y="415956"/>
                <a:ext cx="5781360" cy="5518089"/>
              </a:xfrm>
              <a:custGeom>
                <a:avLst/>
                <a:gdLst/>
                <a:ahLst/>
                <a:cxnLst/>
                <a:rect l="l" t="t" r="r" b="b"/>
                <a:pathLst>
                  <a:path w="5781360" h="5518089">
                    <a:moveTo>
                      <a:pt x="2890680" y="4414"/>
                    </a:moveTo>
                    <a:cubicBezTo>
                      <a:pt x="1903611" y="0"/>
                      <a:pt x="989627" y="524062"/>
                      <a:pt x="494813" y="1378160"/>
                    </a:cubicBezTo>
                    <a:cubicBezTo>
                      <a:pt x="0" y="2232259"/>
                      <a:pt x="0" y="3285829"/>
                      <a:pt x="494813" y="4139928"/>
                    </a:cubicBezTo>
                    <a:cubicBezTo>
                      <a:pt x="989627" y="4994026"/>
                      <a:pt x="1903611" y="5518088"/>
                      <a:pt x="2890680" y="5513674"/>
                    </a:cubicBezTo>
                    <a:cubicBezTo>
                      <a:pt x="3877749" y="5518088"/>
                      <a:pt x="4791733" y="4994026"/>
                      <a:pt x="5286547" y="4139928"/>
                    </a:cubicBezTo>
                    <a:cubicBezTo>
                      <a:pt x="5781360" y="3285829"/>
                      <a:pt x="5781360" y="2232259"/>
                      <a:pt x="5286547" y="1378161"/>
                    </a:cubicBezTo>
                    <a:cubicBezTo>
                      <a:pt x="4791733" y="524062"/>
                      <a:pt x="3877749" y="0"/>
                      <a:pt x="2890680" y="4414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24852" r="-2485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259761" y="2095500"/>
            <a:ext cx="563396" cy="563396"/>
          </a:xfrm>
          <a:custGeom>
            <a:avLst/>
            <a:gdLst/>
            <a:ahLst/>
            <a:cxnLst/>
            <a:rect l="l" t="t" r="r" b="b"/>
            <a:pathLst>
              <a:path w="563396" h="563396">
                <a:moveTo>
                  <a:pt x="0" y="0"/>
                </a:moveTo>
                <a:lnTo>
                  <a:pt x="563396" y="0"/>
                </a:lnTo>
                <a:lnTo>
                  <a:pt x="563396" y="563396"/>
                </a:lnTo>
                <a:lnTo>
                  <a:pt x="0" y="5633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1673451" y="8107042"/>
            <a:ext cx="751905" cy="75190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65506" y="9789139"/>
            <a:ext cx="751905" cy="75190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780">
                    <a:alpha val="100000"/>
                  </a:srgbClr>
                </a:gs>
                <a:gs pos="100000">
                  <a:srgbClr val="011F47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89554" y="-254044"/>
            <a:ext cx="751905" cy="75190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F01">
                    <a:alpha val="100000"/>
                  </a:srgbClr>
                </a:gs>
                <a:gs pos="100000">
                  <a:srgbClr val="FF8A0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96238" y="3856197"/>
            <a:ext cx="9137317" cy="166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21"/>
              </a:lnSpc>
            </a:pPr>
            <a:r>
              <a:rPr lang="en-US" sz="11323" b="1" dirty="0">
                <a:solidFill>
                  <a:srgbClr val="FFCF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46994" y="2110570"/>
            <a:ext cx="3270417" cy="485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sz="289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Think Unlimited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96238" y="5386510"/>
            <a:ext cx="8333934" cy="196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“Practice the philosophy of continuous improvement. Get a little bit better every single day!”</a:t>
            </a:r>
          </a:p>
          <a:p>
            <a:r>
              <a:rPr lang="en-US" altLang="ko-KR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Brian Tracy</a:t>
            </a:r>
            <a:endParaRPr lang="ko-KR" altLang="en-US" sz="3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3" name="Picture 2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E52FBD3-BCDF-8A50-3B60-72597154C96C}"/>
              </a:ext>
            </a:extLst>
          </p:cNvPr>
          <p:cNvPicPr preferRelativeResize="0"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39" y="370347"/>
            <a:ext cx="4500000" cy="900000"/>
          </a:xfrm>
          <a:prstGeom prst="rect">
            <a:avLst/>
          </a:prstGeom>
        </p:spPr>
      </p:pic>
      <p:pic>
        <p:nvPicPr>
          <p:cNvPr id="24" name="Picture 2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60D8680F-4A5D-7028-E8B0-D3202EA6A0DD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4" y="370347"/>
            <a:ext cx="4500000" cy="900000"/>
          </a:xfrm>
          <a:prstGeom prst="rect">
            <a:avLst/>
          </a:prstGeom>
        </p:spPr>
      </p:pic>
      <p:pic>
        <p:nvPicPr>
          <p:cNvPr id="25" name="Picture 24" descr="A logo with red text&#10;&#10;Description automatically generated">
            <a:extLst>
              <a:ext uri="{FF2B5EF4-FFF2-40B4-BE49-F238E27FC236}">
                <a16:creationId xmlns:a16="http://schemas.microsoft.com/office/drawing/2014/main" id="{C45BE80E-D61D-4D18-70F8-9FAFF5652066}"/>
              </a:ext>
            </a:extLst>
          </p:cNvPr>
          <p:cNvPicPr preferRelativeResize="0"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00" y="370343"/>
            <a:ext cx="2880000" cy="9000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12110-003E-3D2B-F2CE-76C9813C0F95}"/>
              </a:ext>
            </a:extLst>
          </p:cNvPr>
          <p:cNvSpPr txBox="1"/>
          <p:nvPr/>
        </p:nvSpPr>
        <p:spPr>
          <a:xfrm>
            <a:off x="6400800" y="822960"/>
            <a:ext cx="518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5400" dirty="0">
                <a:latin typeface="Arial Black" panose="020B0A04020102020204" pitchFamily="34" charset="0"/>
              </a:rPr>
              <a:t>POST TEST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311CB6-3262-4114-F399-D457B6CBE0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943100"/>
            <a:ext cx="598170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77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1579</TotalTime>
  <Words>1568</Words>
  <Application>Microsoft Office PowerPoint</Application>
  <PresentationFormat>Custom</PresentationFormat>
  <Paragraphs>160</Paragraphs>
  <Slides>29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 Black</vt:lpstr>
      <vt:lpstr>Aptos</vt:lpstr>
      <vt:lpstr>Montserrat Bold</vt:lpstr>
      <vt:lpstr>Montserrat</vt:lpstr>
      <vt:lpstr>Poppins</vt:lpstr>
      <vt:lpstr>Calibri</vt:lpstr>
      <vt:lpstr>Arial</vt:lpstr>
      <vt:lpstr>Segoe UI Variable Small</vt:lpstr>
      <vt:lpstr>Office Theme</vt:lpstr>
      <vt:lpstr>PRE TEST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BACKGROUND</dc:title>
  <dc:creator>Ifit Bagus A</dc:creator>
  <cp:lastModifiedBy>ADMIN</cp:lastModifiedBy>
  <cp:revision>18</cp:revision>
  <dcterms:created xsi:type="dcterms:W3CDTF">2006-08-16T00:00:00Z</dcterms:created>
  <dcterms:modified xsi:type="dcterms:W3CDTF">2025-12-19T07:32:28Z</dcterms:modified>
  <dc:identifier>DAF3Gk3CZMM</dc:identifier>
</cp:coreProperties>
</file>