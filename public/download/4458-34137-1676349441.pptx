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Josefin Sans Bold" charset="0"/>
      <p:regular r:id="rId8"/>
    </p:embeddedFont>
    <p:embeddedFont>
      <p:font typeface="Josefin Sans Regular Bold" charset="0"/>
      <p:regular r:id="rId9"/>
    </p:embeddedFont>
    <p:embeddedFont>
      <p:font typeface="Josefin Sans Regular" charset="0"/>
      <p:regular r:id="rId10"/>
    </p:embeddedFont>
    <p:embeddedFont>
      <p:font typeface="Oregano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93" d="100"/>
          <a:sy n="93" d="100"/>
        </p:scale>
        <p:origin x="-1110" y="18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26" Type="http://schemas.openxmlformats.org/officeDocument/2006/relationships/image" Target="../media/image13.png"/><Relationship Id="rId3" Type="http://schemas.openxmlformats.org/officeDocument/2006/relationships/image" Target="../media/image2.png"/><Relationship Id="rId21" Type="http://schemas.openxmlformats.org/officeDocument/2006/relationships/hyperlink" Target="mailto://?to=aisukmayulia@gmail.com" TargetMode="External"/><Relationship Id="rId34" Type="http://schemas.openxmlformats.org/officeDocument/2006/relationships/image" Target="../media/image17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21.svg"/><Relationship Id="rId28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31" Type="http://schemas.openxmlformats.org/officeDocument/2006/relationships/image" Target="../media/image2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Relationship Id="rId22" Type="http://schemas.openxmlformats.org/officeDocument/2006/relationships/image" Target="../media/image11.png"/><Relationship Id="rId27" Type="http://schemas.openxmlformats.org/officeDocument/2006/relationships/image" Target="../media/image25.svg"/><Relationship Id="rId30" Type="http://schemas.openxmlformats.org/officeDocument/2006/relationships/image" Target="../media/image15.png"/><Relationship Id="rId35" Type="http://schemas.openxmlformats.org/officeDocument/2006/relationships/image" Target="../media/image3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26" Type="http://schemas.openxmlformats.org/officeDocument/2006/relationships/image" Target="../media/image13.png"/><Relationship Id="rId3" Type="http://schemas.openxmlformats.org/officeDocument/2006/relationships/image" Target="../media/image2.png"/><Relationship Id="rId21" Type="http://schemas.openxmlformats.org/officeDocument/2006/relationships/hyperlink" Target="mailto://?to=aisukmayulia@gmail.com" TargetMode="External"/><Relationship Id="rId34" Type="http://schemas.openxmlformats.org/officeDocument/2006/relationships/image" Target="../media/image17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21.svg"/><Relationship Id="rId28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31" Type="http://schemas.openxmlformats.org/officeDocument/2006/relationships/image" Target="../media/image2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Relationship Id="rId22" Type="http://schemas.openxmlformats.org/officeDocument/2006/relationships/image" Target="../media/image11.png"/><Relationship Id="rId27" Type="http://schemas.openxmlformats.org/officeDocument/2006/relationships/image" Target="../media/image25.svg"/><Relationship Id="rId30" Type="http://schemas.openxmlformats.org/officeDocument/2006/relationships/image" Target="../media/image15.png"/><Relationship Id="rId35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1563" y="1940074"/>
            <a:ext cx="3911996" cy="7763793"/>
            <a:chOff x="0" y="0"/>
            <a:chExt cx="1401971" cy="2782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1971" cy="2782368"/>
            </a:xfrm>
            <a:custGeom>
              <a:avLst/>
              <a:gdLst/>
              <a:ahLst/>
              <a:cxnLst/>
              <a:rect l="l" t="t" r="r" b="b"/>
              <a:pathLst>
                <a:path w="1401971" h="2782368">
                  <a:moveTo>
                    <a:pt x="59371" y="0"/>
                  </a:moveTo>
                  <a:lnTo>
                    <a:pt x="1342600" y="0"/>
                  </a:lnTo>
                  <a:cubicBezTo>
                    <a:pt x="1358346" y="0"/>
                    <a:pt x="1373448" y="6255"/>
                    <a:pt x="1384582" y="17389"/>
                  </a:cubicBezTo>
                  <a:cubicBezTo>
                    <a:pt x="1395716" y="28523"/>
                    <a:pt x="1401971" y="43625"/>
                    <a:pt x="1401971" y="59371"/>
                  </a:cubicBezTo>
                  <a:lnTo>
                    <a:pt x="1401971" y="2722998"/>
                  </a:lnTo>
                  <a:cubicBezTo>
                    <a:pt x="1401971" y="2738744"/>
                    <a:pt x="1395716" y="2753845"/>
                    <a:pt x="1384582" y="2764979"/>
                  </a:cubicBezTo>
                  <a:cubicBezTo>
                    <a:pt x="1373448" y="2776113"/>
                    <a:pt x="1358346" y="2782368"/>
                    <a:pt x="1342600" y="2782368"/>
                  </a:cubicBezTo>
                  <a:lnTo>
                    <a:pt x="59371" y="2782368"/>
                  </a:lnTo>
                  <a:cubicBezTo>
                    <a:pt x="26581" y="2782368"/>
                    <a:pt x="0" y="2755787"/>
                    <a:pt x="0" y="2722998"/>
                  </a:cubicBezTo>
                  <a:lnTo>
                    <a:pt x="0" y="59371"/>
                  </a:lnTo>
                  <a:cubicBezTo>
                    <a:pt x="0" y="26581"/>
                    <a:pt x="26581" y="0"/>
                    <a:pt x="59371" y="0"/>
                  </a:cubicBezTo>
                  <a:close/>
                </a:path>
              </a:pathLst>
            </a:custGeom>
            <a:solidFill>
              <a:srgbClr val="839BB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84347" y="361262"/>
            <a:ext cx="2368158" cy="2368148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8759" b="-24512"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V="1">
            <a:off x="2860504" y="-2818715"/>
            <a:ext cx="5225866" cy="464448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334255" y="2273227"/>
            <a:ext cx="1160209" cy="38431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-360115" y="10114078"/>
            <a:ext cx="3024000" cy="91476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2681022" y="10104553"/>
            <a:ext cx="3024000" cy="91476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625088" y="8942407"/>
            <a:ext cx="3024000" cy="214704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200545" y="156927"/>
            <a:ext cx="612289" cy="611013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050" y="5557273"/>
            <a:ext cx="171730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4" name="AutoShape 14"/>
          <p:cNvSpPr/>
          <p:nvPr/>
        </p:nvSpPr>
        <p:spPr>
          <a:xfrm>
            <a:off x="3588850" y="7358262"/>
            <a:ext cx="1214917" cy="0"/>
          </a:xfrm>
          <a:prstGeom prst="line">
            <a:avLst/>
          </a:prstGeom>
          <a:ln w="28575" cap="flat">
            <a:solidFill>
              <a:srgbClr val="839BB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5" name="TextBox 15"/>
          <p:cNvSpPr txBox="1"/>
          <p:nvPr/>
        </p:nvSpPr>
        <p:spPr>
          <a:xfrm>
            <a:off x="3588850" y="7496339"/>
            <a:ext cx="21161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Penyuluh kesehatan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Konselor bagi pasien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Mengoperasikan komputer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Berbahasa inggris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24153" y="6991772"/>
            <a:ext cx="164815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839BBF"/>
                </a:solidFill>
                <a:latin typeface="Josefin Sans Bold"/>
              </a:rPr>
              <a:t>SKILL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41022" y="7520702"/>
            <a:ext cx="1376967" cy="110157"/>
            <a:chOff x="0" y="0"/>
            <a:chExt cx="1835956" cy="146876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1835956" cy="146876"/>
              <a:chOff x="0" y="0"/>
              <a:chExt cx="1270000" cy="101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-2509" y="-81"/>
                <a:ext cx="12750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275018" h="101763">
                    <a:moveTo>
                      <a:pt x="53309" y="81"/>
                    </a:moveTo>
                    <a:lnTo>
                      <a:pt x="1221709" y="81"/>
                    </a:lnTo>
                    <a:cubicBezTo>
                      <a:pt x="1239912" y="0"/>
                      <a:pt x="1256768" y="9664"/>
                      <a:pt x="1265893" y="25415"/>
                    </a:cubicBezTo>
                    <a:cubicBezTo>
                      <a:pt x="1275018" y="41166"/>
                      <a:pt x="1275018" y="60596"/>
                      <a:pt x="1265893" y="76347"/>
                    </a:cubicBezTo>
                    <a:cubicBezTo>
                      <a:pt x="1256768" y="92098"/>
                      <a:pt x="1239912" y="101762"/>
                      <a:pt x="12217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494F56"/>
              </a:solidFill>
            </p:spPr>
          </p:sp>
          <p:sp>
            <p:nvSpPr>
              <p:cNvPr id="20" name="Freeform 20"/>
              <p:cNvSpPr/>
              <p:nvPr/>
            </p:nvSpPr>
            <p:spPr>
              <a:xfrm>
                <a:off x="-2509" y="-81"/>
                <a:ext cx="11226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122618" h="101763">
                    <a:moveTo>
                      <a:pt x="53309" y="81"/>
                    </a:moveTo>
                    <a:lnTo>
                      <a:pt x="1069309" y="81"/>
                    </a:lnTo>
                    <a:cubicBezTo>
                      <a:pt x="1087512" y="0"/>
                      <a:pt x="1104368" y="9664"/>
                      <a:pt x="1113493" y="25415"/>
                    </a:cubicBezTo>
                    <a:cubicBezTo>
                      <a:pt x="1122618" y="41166"/>
                      <a:pt x="1122618" y="60596"/>
                      <a:pt x="1113493" y="76347"/>
                    </a:cubicBezTo>
                    <a:cubicBezTo>
                      <a:pt x="1104368" y="92098"/>
                      <a:pt x="1087512" y="101762"/>
                      <a:pt x="10693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839BBF"/>
              </a:solidFill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5741022" y="7716877"/>
            <a:ext cx="1376967" cy="110157"/>
            <a:chOff x="0" y="0"/>
            <a:chExt cx="1835956" cy="146876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0"/>
              <a:ext cx="1835956" cy="146876"/>
              <a:chOff x="0" y="0"/>
              <a:chExt cx="1270000" cy="101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-2509" y="-81"/>
                <a:ext cx="12750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275018" h="101763">
                    <a:moveTo>
                      <a:pt x="53309" y="81"/>
                    </a:moveTo>
                    <a:lnTo>
                      <a:pt x="1221709" y="81"/>
                    </a:lnTo>
                    <a:cubicBezTo>
                      <a:pt x="1239912" y="0"/>
                      <a:pt x="1256768" y="9664"/>
                      <a:pt x="1265893" y="25415"/>
                    </a:cubicBezTo>
                    <a:cubicBezTo>
                      <a:pt x="1275018" y="41166"/>
                      <a:pt x="1275018" y="60596"/>
                      <a:pt x="1265893" y="76347"/>
                    </a:cubicBezTo>
                    <a:cubicBezTo>
                      <a:pt x="1256768" y="92098"/>
                      <a:pt x="1239912" y="101762"/>
                      <a:pt x="12217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494F56"/>
              </a:solidFill>
            </p:spPr>
          </p:sp>
          <p:sp>
            <p:nvSpPr>
              <p:cNvPr id="24" name="Freeform 24"/>
              <p:cNvSpPr/>
              <p:nvPr/>
            </p:nvSpPr>
            <p:spPr>
              <a:xfrm>
                <a:off x="-2509" y="-81"/>
                <a:ext cx="10845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084518" h="101763">
                    <a:moveTo>
                      <a:pt x="53309" y="81"/>
                    </a:moveTo>
                    <a:lnTo>
                      <a:pt x="1031209" y="81"/>
                    </a:lnTo>
                    <a:cubicBezTo>
                      <a:pt x="1049412" y="0"/>
                      <a:pt x="1066268" y="9664"/>
                      <a:pt x="1075393" y="25415"/>
                    </a:cubicBezTo>
                    <a:cubicBezTo>
                      <a:pt x="1084518" y="41166"/>
                      <a:pt x="1084518" y="60596"/>
                      <a:pt x="1075393" y="76347"/>
                    </a:cubicBezTo>
                    <a:cubicBezTo>
                      <a:pt x="1066268" y="92098"/>
                      <a:pt x="1049412" y="101762"/>
                      <a:pt x="10312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839BBF"/>
              </a:solidFill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5741022" y="7913051"/>
            <a:ext cx="1376967" cy="110157"/>
            <a:chOff x="0" y="0"/>
            <a:chExt cx="1835956" cy="146876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0"/>
              <a:ext cx="1835956" cy="146876"/>
              <a:chOff x="0" y="0"/>
              <a:chExt cx="1270000" cy="101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-2509" y="-81"/>
                <a:ext cx="12750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275018" h="101763">
                    <a:moveTo>
                      <a:pt x="53309" y="81"/>
                    </a:moveTo>
                    <a:lnTo>
                      <a:pt x="1221709" y="81"/>
                    </a:lnTo>
                    <a:cubicBezTo>
                      <a:pt x="1239912" y="0"/>
                      <a:pt x="1256768" y="9664"/>
                      <a:pt x="1265893" y="25415"/>
                    </a:cubicBezTo>
                    <a:cubicBezTo>
                      <a:pt x="1275018" y="41166"/>
                      <a:pt x="1275018" y="60596"/>
                      <a:pt x="1265893" y="76347"/>
                    </a:cubicBezTo>
                    <a:cubicBezTo>
                      <a:pt x="1256768" y="92098"/>
                      <a:pt x="1239912" y="101762"/>
                      <a:pt x="12217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494F56"/>
              </a:solidFill>
            </p:spPr>
          </p:sp>
          <p:sp>
            <p:nvSpPr>
              <p:cNvPr id="28" name="Freeform 28"/>
              <p:cNvSpPr/>
              <p:nvPr/>
            </p:nvSpPr>
            <p:spPr>
              <a:xfrm>
                <a:off x="-2509" y="-81"/>
                <a:ext cx="12115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211518" h="101763">
                    <a:moveTo>
                      <a:pt x="53309" y="81"/>
                    </a:moveTo>
                    <a:lnTo>
                      <a:pt x="1158209" y="81"/>
                    </a:lnTo>
                    <a:cubicBezTo>
                      <a:pt x="1176412" y="0"/>
                      <a:pt x="1193268" y="9664"/>
                      <a:pt x="1202393" y="25415"/>
                    </a:cubicBezTo>
                    <a:cubicBezTo>
                      <a:pt x="1211518" y="41166"/>
                      <a:pt x="1211518" y="60596"/>
                      <a:pt x="1202393" y="76347"/>
                    </a:cubicBezTo>
                    <a:cubicBezTo>
                      <a:pt x="1193268" y="92098"/>
                      <a:pt x="1176412" y="101762"/>
                      <a:pt x="11582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839BBF"/>
              </a:solidFill>
            </p:spPr>
          </p:sp>
        </p:grpSp>
      </p:grpSp>
      <p:grpSp>
        <p:nvGrpSpPr>
          <p:cNvPr id="29" name="Group 29"/>
          <p:cNvGrpSpPr/>
          <p:nvPr/>
        </p:nvGrpSpPr>
        <p:grpSpPr>
          <a:xfrm>
            <a:off x="5741022" y="8086933"/>
            <a:ext cx="1376967" cy="110157"/>
            <a:chOff x="0" y="0"/>
            <a:chExt cx="1835956" cy="146876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835956" cy="146876"/>
              <a:chOff x="0" y="0"/>
              <a:chExt cx="1270000" cy="101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09" y="-81"/>
                <a:ext cx="12750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275018" h="101763">
                    <a:moveTo>
                      <a:pt x="53309" y="81"/>
                    </a:moveTo>
                    <a:lnTo>
                      <a:pt x="1221709" y="81"/>
                    </a:lnTo>
                    <a:cubicBezTo>
                      <a:pt x="1239912" y="0"/>
                      <a:pt x="1256768" y="9664"/>
                      <a:pt x="1265893" y="25415"/>
                    </a:cubicBezTo>
                    <a:cubicBezTo>
                      <a:pt x="1275018" y="41166"/>
                      <a:pt x="1275018" y="60596"/>
                      <a:pt x="1265893" y="76347"/>
                    </a:cubicBezTo>
                    <a:cubicBezTo>
                      <a:pt x="1256768" y="92098"/>
                      <a:pt x="1239912" y="101762"/>
                      <a:pt x="12217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494F56"/>
              </a:solidFill>
            </p:spPr>
          </p:sp>
          <p:sp>
            <p:nvSpPr>
              <p:cNvPr id="32" name="Freeform 32"/>
              <p:cNvSpPr/>
              <p:nvPr/>
            </p:nvSpPr>
            <p:spPr>
              <a:xfrm>
                <a:off x="-2509" y="-81"/>
                <a:ext cx="1021018" cy="101763"/>
              </a:xfrm>
              <a:custGeom>
                <a:avLst/>
                <a:gdLst/>
                <a:ahLst/>
                <a:cxnLst/>
                <a:rect l="l" t="t" r="r" b="b"/>
                <a:pathLst>
                  <a:path w="1021018" h="101763">
                    <a:moveTo>
                      <a:pt x="53309" y="81"/>
                    </a:moveTo>
                    <a:lnTo>
                      <a:pt x="967709" y="81"/>
                    </a:lnTo>
                    <a:cubicBezTo>
                      <a:pt x="985912" y="0"/>
                      <a:pt x="1002768" y="9664"/>
                      <a:pt x="1011893" y="25415"/>
                    </a:cubicBezTo>
                    <a:cubicBezTo>
                      <a:pt x="1021018" y="41166"/>
                      <a:pt x="1021018" y="60596"/>
                      <a:pt x="1011893" y="76347"/>
                    </a:cubicBezTo>
                    <a:cubicBezTo>
                      <a:pt x="1002768" y="92098"/>
                      <a:pt x="985912" y="101762"/>
                      <a:pt x="967709" y="101681"/>
                    </a:cubicBezTo>
                    <a:lnTo>
                      <a:pt x="53309" y="101681"/>
                    </a:lnTo>
                    <a:cubicBezTo>
                      <a:pt x="35106" y="101762"/>
                      <a:pt x="18250" y="92098"/>
                      <a:pt x="9125" y="76347"/>
                    </a:cubicBezTo>
                    <a:cubicBezTo>
                      <a:pt x="0" y="60596"/>
                      <a:pt x="0" y="41166"/>
                      <a:pt x="9125" y="25415"/>
                    </a:cubicBezTo>
                    <a:cubicBezTo>
                      <a:pt x="18250" y="9664"/>
                      <a:pt x="35106" y="0"/>
                      <a:pt x="53309" y="81"/>
                    </a:cubicBezTo>
                    <a:close/>
                  </a:path>
                </a:pathLst>
              </a:custGeom>
              <a:solidFill>
                <a:srgbClr val="839BBF"/>
              </a:solidFill>
            </p:spPr>
          </p:sp>
        </p:grpSp>
      </p:grpSp>
      <p:sp>
        <p:nvSpPr>
          <p:cNvPr id="33" name="TextBox 33"/>
          <p:cNvSpPr txBox="1"/>
          <p:nvPr/>
        </p:nvSpPr>
        <p:spPr>
          <a:xfrm>
            <a:off x="3321771" y="379610"/>
            <a:ext cx="4086875" cy="49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4003">
                <a:solidFill>
                  <a:srgbClr val="FFFFFF"/>
                </a:solidFill>
                <a:latin typeface="Oregano"/>
              </a:rPr>
              <a:t>Winda Sari Surya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63764" y="3124353"/>
            <a:ext cx="147387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35" name="TextBox 35"/>
          <p:cNvSpPr txBox="1"/>
          <p:nvPr/>
        </p:nvSpPr>
        <p:spPr>
          <a:xfrm>
            <a:off x="937006" y="2770023"/>
            <a:ext cx="132739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ABOUT 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597" y="3229128"/>
            <a:ext cx="2966477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0"/>
              </a:lnSpc>
              <a:spcBef>
                <a:spcPct val="0"/>
              </a:spcBef>
            </a:pP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Saya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adalah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lulusan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D4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Kebidanan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di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Universitas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Tribhuwana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Josefin Sans Regular"/>
              </a:rPr>
              <a:t>Tunggadewi</a:t>
            </a:r>
            <a:r>
              <a:rPr lang="en-US" sz="1100" dirty="0" smtClean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Berpenampilan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menarik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cekatan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dalam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bekerja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Saya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menyukai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interaksi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bersosialisasi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kemauan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untuk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belajar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memperbaiki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diri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Siap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bekerja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kapan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8354" y="5193418"/>
            <a:ext cx="144469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EDUCATION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57" y="5678998"/>
            <a:ext cx="318021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2010 – 2013</a:t>
            </a:r>
          </a:p>
          <a:p>
            <a:pPr algn="ctr">
              <a:lnSpc>
                <a:spcPts val="1200"/>
              </a:lnSpc>
            </a:pP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SMK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Darul’Ulum</a:t>
            </a: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 1 PONPES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Darul’Ulum</a:t>
            </a: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Peterongan</a:t>
            </a:r>
            <a:endParaRPr lang="en-US" sz="1000" dirty="0" smtClean="0">
              <a:solidFill>
                <a:srgbClr val="FFFFFF"/>
              </a:solidFill>
              <a:latin typeface="Josefin Sans Regular"/>
            </a:endParaRPr>
          </a:p>
          <a:p>
            <a:pPr algn="ctr">
              <a:lnSpc>
                <a:spcPts val="1200"/>
              </a:lnSpc>
            </a:pP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2013 </a:t>
            </a: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- 2016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AKBID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 Bold"/>
              </a:rPr>
              <a:t>Wira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 Bold"/>
              </a:rPr>
              <a:t>Husada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 Nusantara 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Malang (D3)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2016 - 2017</a:t>
            </a:r>
          </a:p>
          <a:p>
            <a:pPr algn="ctr">
              <a:lnSpc>
                <a:spcPts val="1200"/>
              </a:lnSpc>
            </a:pP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Universitas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Tribhuana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Tunggadewi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(D4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)</a:t>
            </a:r>
            <a:endParaRPr lang="en-US" sz="1000" dirty="0">
              <a:solidFill>
                <a:srgbClr val="FFFFFF"/>
              </a:solidFill>
              <a:latin typeface="Josefin Sans Regular Bold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869204" y="7521764"/>
            <a:ext cx="147387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14471" y="7689562"/>
            <a:ext cx="193913" cy="193913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314821" y="7940626"/>
            <a:ext cx="193913" cy="193913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314471" y="8437285"/>
            <a:ext cx="186501" cy="186501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330464" y="8201214"/>
            <a:ext cx="178271" cy="178271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013567" y="7147849"/>
            <a:ext cx="11851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CONTACT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2471" y="7677934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0822 3141 3152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2471" y="7928997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  <a:hlinkClick r:id="rId21" tooltip="mailto://?to=aisukmayulia@gmail.com"/>
              </a:rPr>
              <a:t>windasarisurya@gmail.com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2471" y="8182164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Windhasarysuryha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2471" y="8418235"/>
            <a:ext cx="2548086" cy="82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Tanjung Medan, Rt/Rw 003/005,Desa Tanjung Medan Kec. Tambusai Utara Kab. Rokan Hulu Riau</a:t>
            </a:r>
          </a:p>
        </p:txBody>
      </p:sp>
      <p:sp>
        <p:nvSpPr>
          <p:cNvPr id="49" name="AutoShape 49"/>
          <p:cNvSpPr/>
          <p:nvPr/>
        </p:nvSpPr>
        <p:spPr>
          <a:xfrm>
            <a:off x="3588850" y="3964674"/>
            <a:ext cx="1954768" cy="0"/>
          </a:xfrm>
          <a:prstGeom prst="line">
            <a:avLst/>
          </a:prstGeom>
          <a:ln w="28575" cap="flat">
            <a:solidFill>
              <a:srgbClr val="839BB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50" name="TextBox 50"/>
          <p:cNvSpPr txBox="1"/>
          <p:nvPr/>
        </p:nvSpPr>
        <p:spPr>
          <a:xfrm>
            <a:off x="3588850" y="4217365"/>
            <a:ext cx="381979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>
                <a:solidFill>
                  <a:srgbClr val="556B8D"/>
                </a:solidFill>
                <a:latin typeface="Josefin Sans Regular Bold"/>
              </a:rPr>
              <a:t>Pengalaman Magang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Klinik Rawat Inap AL-BHASHIROH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Puskesmas Sumber Pucung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Puskesmas Ngantang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RSIA Haji Batu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24153" y="3598184"/>
            <a:ext cx="241668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839BBF"/>
                </a:solidFill>
                <a:latin typeface="Josefin Sans Bold"/>
              </a:rPr>
              <a:t>EXPERIENCES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37305" y="872872"/>
            <a:ext cx="28558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Josefin Sans Regular"/>
              </a:rPr>
              <a:t>Bidan</a:t>
            </a:r>
          </a:p>
        </p:txBody>
      </p:sp>
      <p:sp>
        <p:nvSpPr>
          <p:cNvPr id="53" name="AutoShape 53"/>
          <p:cNvSpPr/>
          <p:nvPr/>
        </p:nvSpPr>
        <p:spPr>
          <a:xfrm>
            <a:off x="3588850" y="5812580"/>
            <a:ext cx="1214917" cy="0"/>
          </a:xfrm>
          <a:prstGeom prst="line">
            <a:avLst/>
          </a:prstGeom>
          <a:ln w="28575" cap="flat">
            <a:solidFill>
              <a:srgbClr val="839BB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54" name="TextBox 54"/>
          <p:cNvSpPr txBox="1"/>
          <p:nvPr/>
        </p:nvSpPr>
        <p:spPr>
          <a:xfrm>
            <a:off x="3588850" y="5944022"/>
            <a:ext cx="381979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Mampu beradaptasi dengan cepat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Mampu bekerja dibawah tekanan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Mampu bekerja dalam tim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Mampu berinteraksi dengan client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24153" y="5446090"/>
            <a:ext cx="164105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839BBF"/>
                </a:solidFill>
                <a:latin typeface="Josefin Sans Bold"/>
              </a:rPr>
              <a:t>ABILITY</a:t>
            </a: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3624850" y="1835299"/>
            <a:ext cx="297759" cy="302293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3624850" y="2276806"/>
            <a:ext cx="297759" cy="21598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3624850" y="2635662"/>
            <a:ext cx="297759" cy="214883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3624850" y="2993419"/>
            <a:ext cx="297759" cy="29775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5402613" y="2635662"/>
            <a:ext cx="215980" cy="21598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5418257" y="2933421"/>
            <a:ext cx="184692" cy="35775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6362231" y="2993419"/>
            <a:ext cx="297759" cy="297759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4010636" y="1914896"/>
            <a:ext cx="312645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Tanjung Medan, 28 Desember 1995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10636" y="2249859"/>
            <a:ext cx="112935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Perempuan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10636" y="2608165"/>
            <a:ext cx="127509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Belum Menikah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704318" y="2608165"/>
            <a:ext cx="40707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WNI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704318" y="3007361"/>
            <a:ext cx="541028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157 Cm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30977" y="3056083"/>
            <a:ext cx="541028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64 Kg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010636" y="3007361"/>
            <a:ext cx="127509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Islam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1563" y="1940074"/>
            <a:ext cx="3911996" cy="7763793"/>
            <a:chOff x="0" y="0"/>
            <a:chExt cx="1401971" cy="2782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1971" cy="2782368"/>
            </a:xfrm>
            <a:custGeom>
              <a:avLst/>
              <a:gdLst/>
              <a:ahLst/>
              <a:cxnLst/>
              <a:rect l="l" t="t" r="r" b="b"/>
              <a:pathLst>
                <a:path w="1401971" h="2782368">
                  <a:moveTo>
                    <a:pt x="59371" y="0"/>
                  </a:moveTo>
                  <a:lnTo>
                    <a:pt x="1342600" y="0"/>
                  </a:lnTo>
                  <a:cubicBezTo>
                    <a:pt x="1358346" y="0"/>
                    <a:pt x="1373448" y="6255"/>
                    <a:pt x="1384582" y="17389"/>
                  </a:cubicBezTo>
                  <a:cubicBezTo>
                    <a:pt x="1395716" y="28523"/>
                    <a:pt x="1401971" y="43625"/>
                    <a:pt x="1401971" y="59371"/>
                  </a:cubicBezTo>
                  <a:lnTo>
                    <a:pt x="1401971" y="2722998"/>
                  </a:lnTo>
                  <a:cubicBezTo>
                    <a:pt x="1401971" y="2738744"/>
                    <a:pt x="1395716" y="2753845"/>
                    <a:pt x="1384582" y="2764979"/>
                  </a:cubicBezTo>
                  <a:cubicBezTo>
                    <a:pt x="1373448" y="2776113"/>
                    <a:pt x="1358346" y="2782368"/>
                    <a:pt x="1342600" y="2782368"/>
                  </a:cubicBezTo>
                  <a:lnTo>
                    <a:pt x="59371" y="2782368"/>
                  </a:lnTo>
                  <a:cubicBezTo>
                    <a:pt x="26581" y="2782368"/>
                    <a:pt x="0" y="2755787"/>
                    <a:pt x="0" y="2722998"/>
                  </a:cubicBezTo>
                  <a:lnTo>
                    <a:pt x="0" y="59371"/>
                  </a:lnTo>
                  <a:cubicBezTo>
                    <a:pt x="0" y="26581"/>
                    <a:pt x="26581" y="0"/>
                    <a:pt x="59371" y="0"/>
                  </a:cubicBezTo>
                  <a:close/>
                </a:path>
              </a:pathLst>
            </a:custGeom>
            <a:solidFill>
              <a:srgbClr val="839BB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84347" y="361262"/>
            <a:ext cx="2368158" cy="2368148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8759" b="-24512"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V="1">
            <a:off x="2860504" y="-2818715"/>
            <a:ext cx="5225866" cy="464448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334255" y="2273227"/>
            <a:ext cx="1160209" cy="38431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-360115" y="10114078"/>
            <a:ext cx="3024000" cy="91476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2681022" y="10104553"/>
            <a:ext cx="3024000" cy="91476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625088" y="8942407"/>
            <a:ext cx="3024000" cy="214704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200545" y="156927"/>
            <a:ext cx="612289" cy="611013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050" y="5371868"/>
            <a:ext cx="1717304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4" name="TextBox 14"/>
          <p:cNvSpPr txBox="1"/>
          <p:nvPr/>
        </p:nvSpPr>
        <p:spPr>
          <a:xfrm>
            <a:off x="3321771" y="379610"/>
            <a:ext cx="4086875" cy="49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4003">
                <a:solidFill>
                  <a:srgbClr val="FFFFFF"/>
                </a:solidFill>
                <a:latin typeface="Oregano"/>
              </a:rPr>
              <a:t>Winda Sari Surya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63764" y="3124353"/>
            <a:ext cx="147387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6" name="TextBox 16"/>
          <p:cNvSpPr txBox="1"/>
          <p:nvPr/>
        </p:nvSpPr>
        <p:spPr>
          <a:xfrm>
            <a:off x="937006" y="2770023"/>
            <a:ext cx="132739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ABOUT 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32" y="3229128"/>
            <a:ext cx="3049207" cy="11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0"/>
              </a:lnSpc>
              <a:spcBef>
                <a:spcPct val="0"/>
              </a:spcBef>
            </a:pP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Saya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adalah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lulusan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d4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Kebidanan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di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Universitas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Tribhuwana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  <a:latin typeface="Josefin Sans Regular"/>
              </a:rPr>
              <a:t>Tunggadewi</a:t>
            </a:r>
            <a:r>
              <a:rPr lang="en-US" sz="1100" dirty="0" smtClean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Berpenampilan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menarik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cekatan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dalam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bekerja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Saya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menyukai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interaksi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berasosialisasi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kemauan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untuk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belajar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memperbaiki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diri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Siap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bekerja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kapan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Josefin Sans Regular"/>
              </a:rPr>
              <a:t>saja</a:t>
            </a:r>
            <a:r>
              <a:rPr lang="en-US" sz="1100" dirty="0">
                <a:solidFill>
                  <a:srgbClr val="FFFFFF"/>
                </a:solidFill>
                <a:latin typeface="Josefin Sans Regular"/>
              </a:rPr>
              <a:t>..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354" y="5008013"/>
            <a:ext cx="144469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EDUCATION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002" y="5493593"/>
            <a:ext cx="31525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2010 – 2013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SMK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Darul’lum</a:t>
            </a: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1 PONPES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Darul’Ulum</a:t>
            </a: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"/>
              </a:rPr>
              <a:t>Peterongan</a:t>
            </a:r>
            <a:endParaRPr lang="en-US" sz="1000" dirty="0" smtClean="0">
              <a:solidFill>
                <a:srgbClr val="FFFFFF"/>
              </a:solidFill>
              <a:latin typeface="Josefin Sans Regular"/>
            </a:endParaRPr>
          </a:p>
          <a:p>
            <a:pPr algn="ctr">
              <a:lnSpc>
                <a:spcPts val="1200"/>
              </a:lnSpc>
            </a:pPr>
            <a:r>
              <a:rPr lang="en-US" sz="1000" dirty="0" smtClean="0">
                <a:solidFill>
                  <a:srgbClr val="FFFFFF"/>
                </a:solidFill>
                <a:latin typeface="Josefin Sans Regular"/>
              </a:rPr>
              <a:t>2013 </a:t>
            </a: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- 2016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AKBID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 Bold"/>
              </a:rPr>
              <a:t>Wira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 smtClean="0">
                <a:solidFill>
                  <a:srgbClr val="FFFFFF"/>
                </a:solidFill>
                <a:latin typeface="Josefin Sans Regular Bold"/>
              </a:rPr>
              <a:t>Husada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 Nusantara 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Malang (D3)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FFFFFF"/>
                </a:solidFill>
                <a:latin typeface="Josefin Sans Regular"/>
              </a:rPr>
              <a:t>2016 - 2017</a:t>
            </a:r>
          </a:p>
          <a:p>
            <a:pPr algn="ctr">
              <a:lnSpc>
                <a:spcPts val="1200"/>
              </a:lnSpc>
            </a:pP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Universitas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Tribhuana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Josefin Sans Regular Bold"/>
              </a:rPr>
              <a:t>Tunggadewi</a:t>
            </a:r>
            <a:r>
              <a:rPr lang="en-US" sz="1000" dirty="0">
                <a:solidFill>
                  <a:srgbClr val="FFFFFF"/>
                </a:solidFill>
                <a:latin typeface="Josefin Sans Regular Bold"/>
              </a:rPr>
              <a:t> (D4</a:t>
            </a:r>
            <a:r>
              <a:rPr lang="en-US" sz="1000" dirty="0" smtClean="0">
                <a:solidFill>
                  <a:srgbClr val="FFFFFF"/>
                </a:solidFill>
                <a:latin typeface="Josefin Sans Regular Bold"/>
              </a:rPr>
              <a:t>)</a:t>
            </a:r>
            <a:endParaRPr lang="en-US" sz="1000" dirty="0">
              <a:solidFill>
                <a:srgbClr val="FFFFFF"/>
              </a:solidFill>
              <a:latin typeface="Josefin Sans Regular Bol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9204" y="7219165"/>
            <a:ext cx="147387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84347" y="7386964"/>
            <a:ext cx="193913" cy="19391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384697" y="7638027"/>
            <a:ext cx="193913" cy="193913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384347" y="8134687"/>
            <a:ext cx="186501" cy="18650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00340" y="7898615"/>
            <a:ext cx="178271" cy="178271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13567" y="6845250"/>
            <a:ext cx="11851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Josefin Sans Bold"/>
              </a:rPr>
              <a:t>CONTACT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2347" y="7375335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0822 3141 3152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2347" y="7626399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  <a:hlinkClick r:id="rId21" tooltip="mailto://?to=aisukmayulia@gmail.com"/>
              </a:rPr>
              <a:t>windasarisurya@gmail.com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2347" y="7879565"/>
            <a:ext cx="233049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Windhasarysuryha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2347" y="8115637"/>
            <a:ext cx="2501182" cy="82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Josefin Sans Regular"/>
              </a:rPr>
              <a:t>Tanjung Medan, Rt/Rw 003/005,Desa Tanjung Medan Kec. Tambusai Utara Kab. Rokan Hulu Riau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37305" y="872872"/>
            <a:ext cx="285580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Josefin Sans Regular"/>
              </a:rPr>
              <a:t>Bidan</a:t>
            </a:r>
          </a:p>
        </p:txBody>
      </p:sp>
      <p:sp>
        <p:nvSpPr>
          <p:cNvPr id="31" name="AutoShape 31"/>
          <p:cNvSpPr/>
          <p:nvPr/>
        </p:nvSpPr>
        <p:spPr>
          <a:xfrm>
            <a:off x="3563540" y="4097275"/>
            <a:ext cx="1880881" cy="0"/>
          </a:xfrm>
          <a:prstGeom prst="line">
            <a:avLst/>
          </a:prstGeom>
          <a:ln w="28575" cap="flat">
            <a:solidFill>
              <a:srgbClr val="839BB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32" name="TextBox 32"/>
          <p:cNvSpPr txBox="1"/>
          <p:nvPr/>
        </p:nvSpPr>
        <p:spPr>
          <a:xfrm>
            <a:off x="3563540" y="4291646"/>
            <a:ext cx="3819796" cy="429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599">
                <a:solidFill>
                  <a:srgbClr val="556B8D"/>
                </a:solidFill>
                <a:latin typeface="Josefin Sans Regular Bold"/>
              </a:rPr>
              <a:t>Sertifikat magang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Klinik AL-BHASHIROH</a:t>
            </a:r>
          </a:p>
          <a:p>
            <a:pPr>
              <a:lnSpc>
                <a:spcPts val="1439"/>
              </a:lnSpc>
            </a:pPr>
            <a:endParaRPr lang="en-US" sz="1200">
              <a:solidFill>
                <a:srgbClr val="556B8D"/>
              </a:solidFill>
              <a:latin typeface="Josefin Sans Regular"/>
            </a:endParaRPr>
          </a:p>
          <a:p>
            <a:pPr>
              <a:lnSpc>
                <a:spcPts val="1919"/>
              </a:lnSpc>
            </a:pPr>
            <a:r>
              <a:rPr lang="en-US" sz="1599">
                <a:solidFill>
                  <a:srgbClr val="556B8D"/>
                </a:solidFill>
                <a:latin typeface="Josefin Sans Regular Bold"/>
              </a:rPr>
              <a:t>Sertifikat workshop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Has taken Basic English course for 5 days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Participating the Study Visit at Dai hoc Y Duoc Thanh pho Chi Minh (University of medicine and Pharmacy at Ho Chi Minh City)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Peserta Orientasi Program &amp; Study Visit Direktorat Jenderal Kesehatan Masyarakat Kementrian Kesehatan RI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Peserta Orientasi Program &amp; Study Visit RS Pusat Pertamina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Peserta Orientasi Program &amp; Study Visit DPR RI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Peserta Orientasi Program &amp; Study Visit Pusat Data &amp; Informasi (Kemenkes)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Peserta Orientasi Program &amp; Study Visit Balitbangkes Kemenkes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Pengelolaan RSUD Menjadi BLUD, Strategi Peningkatan Capaian Rumah Sakit, Akreditasi, Sertifikasi RSUD dr. Sayidiman Magetan</a:t>
            </a:r>
          </a:p>
          <a:p>
            <a:pPr marL="259080" lvl="1" indent="-129540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556B8D"/>
                </a:solidFill>
                <a:latin typeface="Josefin Sans Regular"/>
              </a:rPr>
              <a:t>Proses dan Implementasi Manajemen RSUD Dr. Sosodoro Djatikoesoemo Bojonegoro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98843" y="3730785"/>
            <a:ext cx="1641056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839BBF"/>
                </a:solidFill>
                <a:latin typeface="Josefin Sans Bold"/>
              </a:rPr>
              <a:t>CERTIFICATE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3624850" y="1913095"/>
            <a:ext cx="297759" cy="302293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3624850" y="2354602"/>
            <a:ext cx="297759" cy="21598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3624850" y="2713457"/>
            <a:ext cx="297759" cy="214883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3624850" y="3071215"/>
            <a:ext cx="297759" cy="297759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5402613" y="2713457"/>
            <a:ext cx="215980" cy="21598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5418257" y="3011216"/>
            <a:ext cx="184692" cy="35775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6362231" y="3071215"/>
            <a:ext cx="297759" cy="297759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4010636" y="1992692"/>
            <a:ext cx="312645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Tanjung Medan, 28 Desember 1995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10636" y="2327654"/>
            <a:ext cx="112935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Perempuan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10636" y="2685961"/>
            <a:ext cx="127509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Belum Menikah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04318" y="2685961"/>
            <a:ext cx="407075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WNI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704318" y="3085157"/>
            <a:ext cx="541028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157 Cm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30977" y="3206910"/>
            <a:ext cx="541028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64 Kg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10636" y="3085157"/>
            <a:ext cx="127509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4"/>
              </a:lnSpc>
            </a:pPr>
            <a:r>
              <a:rPr lang="en-US" sz="1050" spc="31">
                <a:solidFill>
                  <a:srgbClr val="839BBF"/>
                </a:solidFill>
                <a:latin typeface="Now"/>
              </a:rPr>
              <a:t>Islam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378</Words>
  <Application>Microsoft Office PowerPoint</Application>
  <PresentationFormat>Custom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Josefin Sans Bold</vt:lpstr>
      <vt:lpstr>Josefin Sans Regular Bold</vt:lpstr>
      <vt:lpstr>Josefin Sans Regular</vt:lpstr>
      <vt:lpstr>Now</vt:lpstr>
      <vt:lpstr>Oregano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Winda Sari Surya</dc:title>
  <dc:creator>lenovo</dc:creator>
  <cp:lastModifiedBy>lenovo</cp:lastModifiedBy>
  <cp:revision>4</cp:revision>
  <dcterms:created xsi:type="dcterms:W3CDTF">2006-08-16T00:00:00Z</dcterms:created>
  <dcterms:modified xsi:type="dcterms:W3CDTF">2023-02-14T04:44:02Z</dcterms:modified>
  <dc:identifier>DAFZBMl_yoE</dc:identifier>
</cp:coreProperties>
</file>